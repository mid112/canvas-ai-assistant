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notesMasterIdLst>
    <p:notesMasterId r:id="rId13"/>
  </p:notesMasterIdLst>
  <p:sldIdLst>
    <p:sldId id="256" r:id="rId2"/>
    <p:sldId id="270" r:id="rId3"/>
    <p:sldId id="257" r:id="rId4"/>
    <p:sldId id="258" r:id="rId5"/>
    <p:sldId id="259" r:id="rId6"/>
    <p:sldId id="282" r:id="rId7"/>
    <p:sldId id="283" r:id="rId8"/>
    <p:sldId id="284" r:id="rId9"/>
    <p:sldId id="285" r:id="rId10"/>
    <p:sldId id="287" r:id="rId11"/>
    <p:sldId id="28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463"/>
    <p:restoredTop sz="94719"/>
  </p:normalViewPr>
  <p:slideViewPr>
    <p:cSldViewPr snapToGrid="0" snapToObjects="1">
      <p:cViewPr varScale="1">
        <p:scale>
          <a:sx n="120" d="100"/>
          <a:sy n="120" d="100"/>
        </p:scale>
        <p:origin x="106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0E7453-BE5D-8D46-A8D4-B26F76835865}" type="datetimeFigureOut">
              <a:rPr lang="en-US" smtClean="0"/>
              <a:t>6/12/26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C31761-3C0A-A742-925A-86CDE96E1A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40969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96319" y="802299"/>
            <a:ext cx="5618515" cy="2541431"/>
          </a:xfrm>
        </p:spPr>
        <p:txBody>
          <a:bodyPr bIns="0" anchor="b">
            <a:normAutofit/>
          </a:bodyPr>
          <a:lstStyle>
            <a:lvl1pPr algn="l">
              <a:defRPr sz="5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96319" y="3531205"/>
            <a:ext cx="5618515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60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96319" y="329308"/>
            <a:ext cx="3086292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4703" y="798973"/>
            <a:ext cx="802005" cy="50357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396319" y="3528542"/>
            <a:ext cx="561851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82850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91303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756130"/>
            <a:ext cx="5617002" cy="1887950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2" y="3806196"/>
            <a:ext cx="5617002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43491" y="3804985"/>
            <a:ext cx="561700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48803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890"/>
            <a:ext cx="6571343" cy="105930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3490" y="2013936"/>
            <a:ext cx="3125871" cy="343756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89182" y="2013936"/>
            <a:ext cx="3125652" cy="343755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27815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164"/>
            <a:ext cx="6571344" cy="1056319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9550"/>
            <a:ext cx="312576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3491" y="2824270"/>
            <a:ext cx="3125766" cy="264445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9182" y="2023004"/>
            <a:ext cx="31256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89182" y="2821491"/>
            <a:ext cx="3125652" cy="263737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39145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31775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7147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9042" y="798973"/>
            <a:ext cx="2425950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6656" y="798974"/>
            <a:ext cx="3828178" cy="4658826"/>
          </a:xfrm>
        </p:spPr>
        <p:txBody>
          <a:bodyPr anchor="ctr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39042" y="3205492"/>
            <a:ext cx="2427369" cy="2248181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1748" y="3205491"/>
            <a:ext cx="242327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06580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4996501" y="482171"/>
            <a:ext cx="3511387" cy="5149101"/>
            <a:chOff x="6852919" y="583365"/>
            <a:chExt cx="4681849" cy="5181928"/>
          </a:xfrm>
        </p:grpSpPr>
        <p:sp>
          <p:nvSpPr>
            <p:cNvPr id="14" name="Rectangle 13"/>
            <p:cNvSpPr/>
            <p:nvPr/>
          </p:nvSpPr>
          <p:spPr>
            <a:xfrm>
              <a:off x="6852919" y="583365"/>
              <a:ext cx="4681849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14"/>
            <p:cNvSpPr/>
            <p:nvPr/>
          </p:nvSpPr>
          <p:spPr>
            <a:xfrm>
              <a:off x="7273787" y="915806"/>
              <a:ext cx="3844017" cy="4507918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148" y="1129513"/>
            <a:ext cx="3244935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0128" y="1122543"/>
            <a:ext cx="2234998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3492" y="3145992"/>
            <a:ext cx="3240286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36664" y="5469857"/>
            <a:ext cx="3252420" cy="320123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6/12/26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37530" y="318641"/>
            <a:ext cx="3251553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1281" y="3143605"/>
            <a:ext cx="324201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25067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3741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18028" y="798974"/>
            <a:ext cx="1103027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3491" y="798974"/>
            <a:ext cx="5301095" cy="4659889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6918028" y="798974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17012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015734"/>
            <a:ext cx="9144000" cy="407952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t="1538" r="12500" b="-1538"/>
          <a:stretch/>
        </p:blipFill>
        <p:spPr>
          <a:xfrm>
            <a:off x="-1" y="6095253"/>
            <a:ext cx="9144001" cy="774727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0" y="6101127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43491" y="804520"/>
            <a:ext cx="6571343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5733"/>
            <a:ext cx="6571343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46542" y="330370"/>
            <a:ext cx="2368292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3491" y="329308"/>
            <a:ext cx="403400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7725" y="798973"/>
            <a:ext cx="795746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7381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eg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000"/>
            </a:pPr>
            <a:r>
              <a:rPr dirty="0"/>
              <a:t>Team 16 </a:t>
            </a:r>
            <a:r>
              <a:rPr lang="en-US" dirty="0"/>
              <a:t>-</a:t>
            </a:r>
            <a:r>
              <a:rPr dirty="0"/>
              <a:t> Safe AI-Powered Canvas Workflow Assistant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96319" y="3531205"/>
            <a:ext cx="5618515" cy="1561790"/>
          </a:xfrm>
        </p:spPr>
        <p:txBody>
          <a:bodyPr>
            <a:normAutofit fontScale="92500" lnSpcReduction="20000"/>
          </a:bodyPr>
          <a:lstStyle/>
          <a:p>
            <a:pPr>
              <a:defRPr sz="1800"/>
            </a:pPr>
            <a:r>
              <a:rPr lang="en-IN" sz="1800" dirty="0"/>
              <a:t>PROOF OF life Presentation</a:t>
            </a:r>
          </a:p>
          <a:p>
            <a:pPr>
              <a:defRPr sz="1800"/>
            </a:pPr>
            <a:r>
              <a:rPr dirty="0"/>
              <a:t>Capstone Project </a:t>
            </a:r>
            <a:r>
              <a:rPr lang="en-US" dirty="0"/>
              <a:t>-</a:t>
            </a:r>
            <a:r>
              <a:rPr dirty="0"/>
              <a:t> AI-Assisted Canvas LMS Workflow Management</a:t>
            </a:r>
            <a:endParaRPr lang="en-US" dirty="0"/>
          </a:p>
          <a:p>
            <a:pPr>
              <a:defRPr sz="1800"/>
            </a:pPr>
            <a:r>
              <a:rPr lang="en-US" dirty="0"/>
              <a:t>Presented by team 16</a:t>
            </a:r>
          </a:p>
          <a:p>
            <a:pPr>
              <a:defRPr sz="1800"/>
            </a:pPr>
            <a:endParaRPr lang="en-US" dirty="0"/>
          </a:p>
          <a:p>
            <a:pPr>
              <a:defRPr sz="1800"/>
            </a:pP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ED97CB-7195-12DE-E973-F8ACE23B8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MEET THE Team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5A729EC-140C-C369-6965-E0887B4070E6}"/>
              </a:ext>
            </a:extLst>
          </p:cNvPr>
          <p:cNvSpPr txBox="1"/>
          <p:nvPr/>
        </p:nvSpPr>
        <p:spPr>
          <a:xfrm>
            <a:off x="3577856" y="3465085"/>
            <a:ext cx="1988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MRIDUL NOHRIA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3C660D-0DCC-3568-9AA5-5670A5E32C65}"/>
              </a:ext>
            </a:extLst>
          </p:cNvPr>
          <p:cNvSpPr txBox="1"/>
          <p:nvPr/>
        </p:nvSpPr>
        <p:spPr>
          <a:xfrm>
            <a:off x="2316927" y="5594037"/>
            <a:ext cx="16058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JESSICA GOEL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8F881FF-A85C-5654-1A48-823D1889EB67}"/>
              </a:ext>
            </a:extLst>
          </p:cNvPr>
          <p:cNvSpPr txBox="1"/>
          <p:nvPr/>
        </p:nvSpPr>
        <p:spPr>
          <a:xfrm>
            <a:off x="6941283" y="3465085"/>
            <a:ext cx="13021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BAO TRAN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0A856A3-159E-B84B-31AC-2500ECE92591}"/>
              </a:ext>
            </a:extLst>
          </p:cNvPr>
          <p:cNvSpPr txBox="1"/>
          <p:nvPr/>
        </p:nvSpPr>
        <p:spPr>
          <a:xfrm>
            <a:off x="271175" y="3465085"/>
            <a:ext cx="25943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YERDANA MAULENBAY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9AE9A39-0495-30D6-CA74-F08C312D7668}"/>
              </a:ext>
            </a:extLst>
          </p:cNvPr>
          <p:cNvSpPr txBox="1"/>
          <p:nvPr/>
        </p:nvSpPr>
        <p:spPr>
          <a:xfrm>
            <a:off x="5419689" y="5594037"/>
            <a:ext cx="1976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800" b="0" i="0" u="none" strike="noStrike" dirty="0">
                <a:solidFill>
                  <a:srgbClr val="000000"/>
                </a:solidFill>
                <a:effectLst/>
              </a:rPr>
              <a:t>RHYTHM TRIVEDI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FB22217-3CDF-5FD3-1DFD-2EA586537290}"/>
              </a:ext>
            </a:extLst>
          </p:cNvPr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5F16536-4AAC-749A-8D7E-F73C2E22F4C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6016" t="25244" r="-1"/>
          <a:stretch/>
        </p:blipFill>
        <p:spPr>
          <a:xfrm>
            <a:off x="5528837" y="3996099"/>
            <a:ext cx="1715037" cy="161245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5C8F40B-17E5-B751-AE85-3EFF4011AA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827" y="1913758"/>
            <a:ext cx="1551327" cy="155132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6EBBA1B-F99A-DCC7-DA43-0800882BB6F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-16438" t="11681" r="-4096" b="18226"/>
          <a:stretch/>
        </p:blipFill>
        <p:spPr>
          <a:xfrm>
            <a:off x="3577856" y="1948042"/>
            <a:ext cx="1773267" cy="157104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4D34B6F-A91B-5831-1B0C-E6733FFFFC1B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5820" t="13045"/>
          <a:stretch/>
        </p:blipFill>
        <p:spPr>
          <a:xfrm>
            <a:off x="6771321" y="1913758"/>
            <a:ext cx="1472113" cy="159941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4942E14D-E696-D573-6704-2632F7C921E3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7699" r="1901" b="11731"/>
          <a:stretch/>
        </p:blipFill>
        <p:spPr>
          <a:xfrm>
            <a:off x="2202717" y="3805398"/>
            <a:ext cx="1605889" cy="1817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07069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rPr dirty="0"/>
              <a:t>Project Purpose &amp; 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dirty="0"/>
              <a:t>Instructors spend excessive time navigating Canvas for repetitive workflows</a:t>
            </a:r>
          </a:p>
          <a:p>
            <a:pPr>
              <a:defRPr sz="2000"/>
            </a:pPr>
            <a:r>
              <a:rPr dirty="0"/>
              <a:t>Tasks like missing submission tracking and messaging require multiple manual steps</a:t>
            </a:r>
          </a:p>
          <a:p>
            <a:pPr>
              <a:defRPr sz="2000"/>
            </a:pPr>
            <a:r>
              <a:rPr dirty="0"/>
              <a:t>Administrative overload reduces time available for teaching and student support</a:t>
            </a:r>
          </a:p>
          <a:p>
            <a:pPr>
              <a:defRPr sz="2000"/>
            </a:pPr>
            <a:r>
              <a:rPr dirty="0"/>
              <a:t>Goal: simplify workflows using conversational AI assistance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9215" y="1051918"/>
            <a:ext cx="6571343" cy="1049235"/>
          </a:xfrm>
        </p:spPr>
        <p:txBody>
          <a:bodyPr>
            <a:normAutofit/>
          </a:bodyPr>
          <a:lstStyle/>
          <a:p>
            <a:pPr>
              <a:defRPr sz="3000"/>
            </a:pPr>
            <a:r>
              <a:rPr lang="en-IN" sz="48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System Architecture</a:t>
            </a:r>
            <a:endParaRPr sz="4800" dirty="0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CAC475E-2EC6-DED4-3FA2-960C0C2AB9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6064" y="1907104"/>
            <a:ext cx="5226474" cy="418087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3E063B9-4A98-84ED-8EAA-5F2FAFE0D8B7}"/>
              </a:ext>
            </a:extLst>
          </p:cNvPr>
          <p:cNvSpPr txBox="1"/>
          <p:nvPr/>
        </p:nvSpPr>
        <p:spPr>
          <a:xfrm>
            <a:off x="230855" y="1907105"/>
            <a:ext cx="4584032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b="1" i="0" u="none" strike="noStrike" dirty="0">
                <a:solidFill>
                  <a:srgbClr val="000000"/>
                </a:solidFill>
                <a:effectLst/>
              </a:rPr>
              <a:t>Frontend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React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TypeScript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Tailwind</a:t>
            </a:r>
          </a:p>
          <a:p>
            <a:pPr algn="l"/>
            <a:endParaRPr lang="en-IN" b="0" i="0" u="none" strike="noStrike" dirty="0">
              <a:solidFill>
                <a:srgbClr val="000000"/>
              </a:solidFill>
              <a:effectLst/>
            </a:endParaRPr>
          </a:p>
          <a:p>
            <a:pPr algn="l"/>
            <a:r>
              <a:rPr lang="en-IN" b="1" i="0" u="none" strike="noStrike" dirty="0">
                <a:solidFill>
                  <a:srgbClr val="000000"/>
                </a:solidFill>
                <a:effectLst/>
              </a:rPr>
              <a:t>Backend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0" i="0" u="none" strike="noStrike" dirty="0" err="1">
                <a:solidFill>
                  <a:srgbClr val="000000"/>
                </a:solidFill>
                <a:effectLst/>
              </a:rPr>
              <a:t>FastAPI</a:t>
            </a:r>
            <a:endParaRPr lang="en-IN" b="0" i="0" u="none" strike="noStrike" dirty="0">
              <a:solidFill>
                <a:srgbClr val="000000"/>
              </a:solidFill>
              <a:effectLst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MCP Server</a:t>
            </a:r>
          </a:p>
          <a:p>
            <a:endParaRPr lang="en-IN" b="0" i="0" u="none" strike="noStrike" dirty="0">
              <a:solidFill>
                <a:srgbClr val="000000"/>
              </a:solidFill>
              <a:effectLst/>
            </a:endParaRPr>
          </a:p>
          <a:p>
            <a:pPr algn="l"/>
            <a:r>
              <a:rPr lang="en-IN" b="1" i="0" u="none" strike="noStrike" dirty="0">
                <a:solidFill>
                  <a:srgbClr val="000000"/>
                </a:solidFill>
                <a:effectLst/>
              </a:rPr>
              <a:t>Infrastructure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PostgreSQL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b="0" i="0" u="none" strike="noStrike" dirty="0" err="1">
                <a:solidFill>
                  <a:srgbClr val="000000"/>
                </a:solidFill>
                <a:effectLst/>
              </a:rPr>
              <a:t>Ollama</a:t>
            </a:r>
            <a:endParaRPr lang="en-IN" b="0" i="0" u="none" strike="noStrike" dirty="0">
              <a:solidFill>
                <a:srgbClr val="000000"/>
              </a:solidFill>
              <a:effectLst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Canvas LMS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F564BC5-BEFF-81D1-A93B-4ADA6C8925B5}"/>
              </a:ext>
            </a:extLst>
          </p:cNvPr>
          <p:cNvSpPr txBox="1"/>
          <p:nvPr/>
        </p:nvSpPr>
        <p:spPr>
          <a:xfrm>
            <a:off x="7062538" y="1877123"/>
            <a:ext cx="4648891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Key design </a:t>
            </a:r>
          </a:p>
          <a:p>
            <a:pPr algn="l"/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decisions: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Local AI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Secure credential </a:t>
            </a:r>
          </a:p>
          <a:p>
            <a:pPr algn="l"/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     boundary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Human approval</a:t>
            </a:r>
          </a:p>
          <a:p>
            <a:pPr algn="l"/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     workflow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191889"/>
            <a:ext cx="6571343" cy="1049235"/>
          </a:xfrm>
        </p:spPr>
        <p:txBody>
          <a:bodyPr>
            <a:noAutofit/>
          </a:bodyPr>
          <a:lstStyle/>
          <a:p>
            <a:pPr>
              <a:defRPr sz="3000"/>
            </a:pPr>
            <a:r>
              <a:rPr lang="en-IN" sz="48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Features Implemented</a:t>
            </a:r>
            <a:endParaRPr sz="4800" dirty="0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88A689D-9369-B660-08FD-2477A68E0E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Registration</a:t>
            </a:r>
          </a:p>
          <a:p>
            <a:pPr algn="l"/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 Login</a:t>
            </a:r>
          </a:p>
          <a:p>
            <a:pPr algn="l"/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 JWT Authentication</a:t>
            </a:r>
          </a:p>
          <a:p>
            <a:pPr algn="l"/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Backend API Endpoints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A16DEB-DE4C-99EF-54AB-3B41EFC38F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sz="5300" dirty="0">
                <a:solidFill>
                  <a:srgbClr val="000000"/>
                </a:solidFill>
                <a:latin typeface="-webkit-standard"/>
              </a:rPr>
              <a:t>Features In Progress</a:t>
            </a:r>
            <a:br>
              <a:rPr lang="en-IN" b="1" i="0" u="none" strike="noStrike" dirty="0">
                <a:solidFill>
                  <a:srgbClr val="000000"/>
                </a:solidFill>
                <a:effectLst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902F0B-67D4-C8AE-4A29-B41E2567BD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Canvas Integration</a:t>
            </a:r>
          </a:p>
          <a:p>
            <a:pPr algn="l"/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AI Workflow Generation</a:t>
            </a:r>
          </a:p>
          <a:p>
            <a:pPr algn="l"/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Workflow Preview</a:t>
            </a:r>
          </a:p>
          <a:p>
            <a:pPr algn="l"/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Audit Logging</a:t>
            </a:r>
          </a:p>
          <a:p>
            <a:pPr algn="l"/>
            <a:r>
              <a:rPr lang="en-IN" dirty="0">
                <a:solidFill>
                  <a:srgbClr val="000000"/>
                </a:solidFill>
              </a:rPr>
              <a:t>Dashboards</a:t>
            </a:r>
          </a:p>
          <a:p>
            <a:pPr marL="0" indent="0" algn="l">
              <a:buNone/>
            </a:pPr>
            <a:endParaRPr lang="en-IN" b="0" i="0" u="none" strike="noStrike" dirty="0">
              <a:solidFill>
                <a:srgbClr val="000000"/>
              </a:solidFill>
              <a:effectLst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93988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54000"/>
                <a:lumOff val="4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E503D9-4B49-456A-B516-0208385B6C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sz="72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Testing</a:t>
            </a:r>
            <a:endParaRPr lang="en-US" sz="72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9DC4670-9066-CEC2-B5E9-8DE2D21FAA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18430" y="2263103"/>
            <a:ext cx="6572250" cy="681945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E6D251F-B941-1437-6A34-E0594A0D0915}"/>
              </a:ext>
            </a:extLst>
          </p:cNvPr>
          <p:cNvSpPr txBox="1"/>
          <p:nvPr/>
        </p:nvSpPr>
        <p:spPr>
          <a:xfrm>
            <a:off x="1243292" y="1813389"/>
            <a:ext cx="157036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Frontend</a:t>
            </a:r>
            <a:r>
              <a:rPr lang="en-US" dirty="0"/>
              <a:t>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179C8EE-3074-4642-5C59-E46CAF7D2EEF}"/>
              </a:ext>
            </a:extLst>
          </p:cNvPr>
          <p:cNvSpPr txBox="1"/>
          <p:nvPr/>
        </p:nvSpPr>
        <p:spPr>
          <a:xfrm>
            <a:off x="797720" y="2861491"/>
            <a:ext cx="1656800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Backend:</a:t>
            </a:r>
          </a:p>
          <a:p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3D22C7B-030F-AC70-B997-2EFB891AFED7}"/>
              </a:ext>
            </a:extLst>
          </p:cNvPr>
          <p:cNvSpPr txBox="1"/>
          <p:nvPr/>
        </p:nvSpPr>
        <p:spPr>
          <a:xfrm>
            <a:off x="2289008" y="3250350"/>
            <a:ext cx="45780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96D30CE-E16B-4F5F-9BAC-8C3CE12161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3043" y="3334406"/>
            <a:ext cx="5886537" cy="2625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3601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AB60AB-9E5F-D1A0-666D-1F8C88BDEB6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LIVE DEMO</a:t>
            </a:r>
          </a:p>
        </p:txBody>
      </p:sp>
    </p:spTree>
    <p:extLst>
      <p:ext uri="{BB962C8B-B14F-4D97-AF65-F5344CB8AC3E}">
        <p14:creationId xmlns:p14="http://schemas.microsoft.com/office/powerpoint/2010/main" val="25687410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98B269-2575-5591-7856-9F6AE7F35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CHALLENGES AND NEXT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EB28E1-01BF-38A1-D862-235C196F06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algn="l"/>
            <a:r>
              <a:rPr lang="en-IN" b="1" i="0" u="none" strike="noStrike" dirty="0">
                <a:solidFill>
                  <a:srgbClr val="000000"/>
                </a:solidFill>
                <a:effectLst/>
              </a:rPr>
              <a:t>Challenges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Canvas API integration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Local LLM integration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Security considerations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Authentication setup</a:t>
            </a:r>
          </a:p>
          <a:p>
            <a:pPr algn="l"/>
            <a:r>
              <a:rPr lang="en-IN" b="1" i="0" u="none" strike="noStrike" dirty="0">
                <a:solidFill>
                  <a:srgbClr val="000000"/>
                </a:solidFill>
                <a:effectLst/>
              </a:rPr>
              <a:t>Next Steps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Complete Canvas integration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Implement workflow preview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Add audit logging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MVP Demo preparation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38000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746E4-A929-C9E3-0432-74B9A08D20B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Q AND A SESSION </a:t>
            </a:r>
          </a:p>
        </p:txBody>
      </p:sp>
    </p:spTree>
    <p:extLst>
      <p:ext uri="{BB962C8B-B14F-4D97-AF65-F5344CB8AC3E}">
        <p14:creationId xmlns:p14="http://schemas.microsoft.com/office/powerpoint/2010/main" val="18199530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27366F-FF95-60B5-5A67-86A5D1D6E23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 </a:t>
            </a:r>
          </a:p>
        </p:txBody>
      </p:sp>
    </p:spTree>
    <p:extLst>
      <p:ext uri="{BB962C8B-B14F-4D97-AF65-F5344CB8AC3E}">
        <p14:creationId xmlns:p14="http://schemas.microsoft.com/office/powerpoint/2010/main" val="623305492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{8A10EB92-C767-CC43-9DA0-12F1E8479B88}tf10001119_mac</Template>
  <TotalTime>1071</TotalTime>
  <Words>176</Words>
  <Application>Microsoft Macintosh PowerPoint</Application>
  <PresentationFormat>On-screen Show (4:3)</PresentationFormat>
  <Paragraphs>64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-webkit-standard</vt:lpstr>
      <vt:lpstr>Arial</vt:lpstr>
      <vt:lpstr>Calibri</vt:lpstr>
      <vt:lpstr>Gill Sans MT</vt:lpstr>
      <vt:lpstr>Gallery</vt:lpstr>
      <vt:lpstr>Team 16 - Safe AI-Powered Canvas Workflow Assistant</vt:lpstr>
      <vt:lpstr>MEET THE Team</vt:lpstr>
      <vt:lpstr>Project Purpose &amp; Problem Statement</vt:lpstr>
      <vt:lpstr>System Architecture</vt:lpstr>
      <vt:lpstr>Features Implemented</vt:lpstr>
      <vt:lpstr>Features In Progress </vt:lpstr>
      <vt:lpstr>Testing</vt:lpstr>
      <vt:lpstr>LIVE DEMO</vt:lpstr>
      <vt:lpstr>CHALLENGES AND NEXT STEPS</vt:lpstr>
      <vt:lpstr>Q AND A SESSION </vt:lpstr>
      <vt:lpstr>THANK YOU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Team 16 - Safe AI-Powered Canvas Workflow Assistant</dc:title>
  <dc:subject/>
  <dc:creator/>
  <cp:keywords/>
  <dc:description>generated using python-pptx</dc:description>
  <cp:lastModifiedBy>jgoel01@student.ubc.ca</cp:lastModifiedBy>
  <cp:revision>13</cp:revision>
  <dcterms:created xsi:type="dcterms:W3CDTF">2013-01-27T09:14:16Z</dcterms:created>
  <dcterms:modified xsi:type="dcterms:W3CDTF">2026-06-12T18:06:13Z</dcterms:modified>
  <cp:category/>
</cp:coreProperties>
</file>