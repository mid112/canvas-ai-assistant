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59" r:id="rId6"/>
    <p:sldId id="274" r:id="rId7"/>
    <p:sldId id="275" r:id="rId8"/>
    <p:sldId id="271" r:id="rId9"/>
    <p:sldId id="276" r:id="rId10"/>
    <p:sldId id="277" r:id="rId11"/>
    <p:sldId id="273" r:id="rId12"/>
    <p:sldId id="260" r:id="rId13"/>
    <p:sldId id="278" r:id="rId14"/>
    <p:sldId id="279" r:id="rId15"/>
    <p:sldId id="280" r:id="rId16"/>
    <p:sldId id="28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00"/>
  </p:normalViewPr>
  <p:slideViewPr>
    <p:cSldViewPr snapToGrid="0" snapToObjects="1">
      <p:cViewPr>
        <p:scale>
          <a:sx n="106" d="100"/>
          <a:sy n="106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E7453-BE5D-8D46-A8D4-B26F7683586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31761-3C0A-A742-925A-86CDE96E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9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31761-3C0A-A742-925A-86CDE96E1A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6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28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13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8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78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1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7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1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65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0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7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70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Team 16 </a:t>
            </a:r>
            <a:r>
              <a:rPr lang="en-US" dirty="0"/>
              <a:t>-</a:t>
            </a:r>
            <a:r>
              <a:rPr dirty="0"/>
              <a:t> Safe AI-Powered Canvas Workflow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1561790"/>
          </a:xfrm>
        </p:spPr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lang="en-IN" sz="1800" dirty="0"/>
              <a:t>System Design Presentation</a:t>
            </a:r>
          </a:p>
          <a:p>
            <a:pPr>
              <a:defRPr sz="1800"/>
            </a:pPr>
            <a:r>
              <a:rPr dirty="0"/>
              <a:t>Capstone Project </a:t>
            </a:r>
            <a:r>
              <a:rPr lang="en-US" dirty="0"/>
              <a:t>-</a:t>
            </a:r>
            <a:r>
              <a:rPr dirty="0"/>
              <a:t> AI-Assisted Canvas LMS Workflow Management</a:t>
            </a:r>
            <a:endParaRPr lang="en-US" dirty="0"/>
          </a:p>
          <a:p>
            <a:pPr>
              <a:defRPr sz="1800"/>
            </a:pPr>
            <a:r>
              <a:rPr lang="en-US" dirty="0"/>
              <a:t>Presented by team 16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97CB-7195-12DE-E973-F8ACE23B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729EC-140C-C369-6965-E0887B4070E6}"/>
              </a:ext>
            </a:extLst>
          </p:cNvPr>
          <p:cNvSpPr txBox="1"/>
          <p:nvPr/>
        </p:nvSpPr>
        <p:spPr>
          <a:xfrm>
            <a:off x="3577856" y="3465085"/>
            <a:ext cx="198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MRIDUL NOHRIA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C660D-0DCC-3568-9AA5-5670A5E32C65}"/>
              </a:ext>
            </a:extLst>
          </p:cNvPr>
          <p:cNvSpPr txBox="1"/>
          <p:nvPr/>
        </p:nvSpPr>
        <p:spPr>
          <a:xfrm>
            <a:off x="2316927" y="5594037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JESSICA GOEL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881FF-A85C-5654-1A48-823D1889EB67}"/>
              </a:ext>
            </a:extLst>
          </p:cNvPr>
          <p:cNvSpPr txBox="1"/>
          <p:nvPr/>
        </p:nvSpPr>
        <p:spPr>
          <a:xfrm>
            <a:off x="6941283" y="3465085"/>
            <a:ext cx="1302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BAO TRAN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856A3-159E-B84B-31AC-2500ECE92591}"/>
              </a:ext>
            </a:extLst>
          </p:cNvPr>
          <p:cNvSpPr txBox="1"/>
          <p:nvPr/>
        </p:nvSpPr>
        <p:spPr>
          <a:xfrm>
            <a:off x="271175" y="3465085"/>
            <a:ext cx="25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YERDANA MAULENBAY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E9A39-0495-30D6-CA74-F08C312D7668}"/>
              </a:ext>
            </a:extLst>
          </p:cNvPr>
          <p:cNvSpPr txBox="1"/>
          <p:nvPr/>
        </p:nvSpPr>
        <p:spPr>
          <a:xfrm>
            <a:off x="5419689" y="5594037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RHYTHM TRIVEDI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22217-3CDF-5FD3-1DFD-2EA586537290}"/>
              </a:ext>
            </a:extLst>
          </p:cNvPr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16536-4AAC-749A-8D7E-F73C2E22F4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016" t="25244" r="-1"/>
          <a:stretch/>
        </p:blipFill>
        <p:spPr>
          <a:xfrm>
            <a:off x="5528837" y="3996099"/>
            <a:ext cx="1715037" cy="16124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C8F40B-17E5-B751-AE85-3EFF4011A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7" y="1913758"/>
            <a:ext cx="1551327" cy="1551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EBBA1B-F99A-DCC7-DA43-0800882BB6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6438" t="11681" r="-4096" b="18226"/>
          <a:stretch/>
        </p:blipFill>
        <p:spPr>
          <a:xfrm>
            <a:off x="3577856" y="1948042"/>
            <a:ext cx="1773267" cy="15710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D34B6F-A91B-5831-1B0C-E6733FFFFC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20" t="13045"/>
          <a:stretch/>
        </p:blipFill>
        <p:spPr>
          <a:xfrm>
            <a:off x="6771321" y="1913758"/>
            <a:ext cx="1472113" cy="15994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42E14D-E696-D573-6704-2632F7C921E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99" r="1901" b="11731"/>
          <a:stretch/>
        </p:blipFill>
        <p:spPr>
          <a:xfrm>
            <a:off x="2202717" y="3805398"/>
            <a:ext cx="1605889" cy="181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06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Project Purpose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Instructors spend excessive time navigating Canvas for repetitive workflows</a:t>
            </a:r>
          </a:p>
          <a:p>
            <a:pPr>
              <a:defRPr sz="2000"/>
            </a:pPr>
            <a:r>
              <a:rPr dirty="0"/>
              <a:t>Tasks like missing submission tracking and messaging require multiple manual steps</a:t>
            </a:r>
          </a:p>
          <a:p>
            <a:pPr>
              <a:defRPr sz="2000"/>
            </a:pPr>
            <a:r>
              <a:rPr dirty="0"/>
              <a:t>Administrative overload reduces time available for teaching and student support</a:t>
            </a:r>
          </a:p>
          <a:p>
            <a:pPr>
              <a:defRPr sz="2000"/>
            </a:pPr>
            <a:r>
              <a:rPr dirty="0"/>
              <a:t>Goal: simplify workflows using conversational AI assistance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215" y="1051918"/>
            <a:ext cx="6571343" cy="1049235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IN" sz="4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System Architecture</a:t>
            </a:r>
            <a:endParaRPr sz="4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C475E-2EC6-DED4-3FA2-960C0C2AB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64" y="1907104"/>
            <a:ext cx="5226474" cy="4180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E063B9-4A98-84ED-8EAA-5F2FAFE0D8B7}"/>
              </a:ext>
            </a:extLst>
          </p:cNvPr>
          <p:cNvSpPr txBox="1"/>
          <p:nvPr/>
        </p:nvSpPr>
        <p:spPr>
          <a:xfrm>
            <a:off x="230855" y="1907105"/>
            <a:ext cx="45840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Frontend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React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TypeScript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Tailwind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FastAPI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MCP Server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Infrastructure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PostgreSQL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Canvas LMS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564BC5-BEFF-81D1-A93B-4ADA6C8925B5}"/>
              </a:ext>
            </a:extLst>
          </p:cNvPr>
          <p:cNvSpPr txBox="1"/>
          <p:nvPr/>
        </p:nvSpPr>
        <p:spPr>
          <a:xfrm>
            <a:off x="7062538" y="1877123"/>
            <a:ext cx="46488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Key design 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decisions: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Local AI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Secure credential 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boundary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Human approval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91889"/>
            <a:ext cx="6571343" cy="1049235"/>
          </a:xfrm>
        </p:spPr>
        <p:txBody>
          <a:bodyPr>
            <a:noAutofit/>
          </a:bodyPr>
          <a:lstStyle/>
          <a:p>
            <a:pPr>
              <a:defRPr sz="3000"/>
            </a:pPr>
            <a:r>
              <a:rPr lang="en-IN" sz="4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Architecture Rationale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Why this design?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Security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Canvas tokens never reach the LLM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Privacy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Local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deployment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Reliability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Pydantic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validation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Accountability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 Audit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ECAF-14D6-1D60-25F4-E5F1D5DB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Diagram </a:t>
            </a:r>
            <a:endParaRPr lang="en-US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5AE51-1F0D-891A-57BD-F2FCC9AB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601" y="1928761"/>
            <a:ext cx="6209670" cy="4111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61B7AF-422B-92E4-4C65-81188F7EB6FE}"/>
              </a:ext>
            </a:extLst>
          </p:cNvPr>
          <p:cNvSpPr txBox="1"/>
          <p:nvPr/>
        </p:nvSpPr>
        <p:spPr>
          <a:xfrm>
            <a:off x="363955" y="1941684"/>
            <a:ext cx="45780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Instructor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Create Assignment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Send Reminder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View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2DFA8-A4B9-50F3-899C-615488EC3A58}"/>
              </a:ext>
            </a:extLst>
          </p:cNvPr>
          <p:cNvSpPr txBox="1"/>
          <p:nvPr/>
        </p:nvSpPr>
        <p:spPr>
          <a:xfrm>
            <a:off x="363955" y="3267401"/>
            <a:ext cx="45780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/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Draft Messages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Monitor Students</a:t>
            </a:r>
          </a:p>
          <a:p>
            <a:pPr algn="l"/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Admin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Manage Users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View Logs</a:t>
            </a:r>
          </a:p>
        </p:txBody>
      </p:sp>
    </p:spTree>
    <p:extLst>
      <p:ext uri="{BB962C8B-B14F-4D97-AF65-F5344CB8AC3E}">
        <p14:creationId xmlns:p14="http://schemas.microsoft.com/office/powerpoint/2010/main" val="321983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06AB3-83AE-0775-1D85-BE4A09069A45}"/>
              </a:ext>
            </a:extLst>
          </p:cNvPr>
          <p:cNvSpPr txBox="1"/>
          <p:nvPr/>
        </p:nvSpPr>
        <p:spPr>
          <a:xfrm>
            <a:off x="505326" y="1023878"/>
            <a:ext cx="892743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WALKTHROUGH 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98932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7B5B-4043-F395-80CA-26DD500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52" y="864912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1</a:t>
            </a:r>
            <a:endParaRPr lang="en-US" sz="6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403BE82-8F7F-55C4-F3EA-6405F40C0780}"/>
              </a:ext>
            </a:extLst>
          </p:cNvPr>
          <p:cNvSpPr/>
          <p:nvPr/>
        </p:nvSpPr>
        <p:spPr>
          <a:xfrm>
            <a:off x="3380872" y="2605960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145F0-F0C5-A20A-F1EA-D83A9765E446}"/>
              </a:ext>
            </a:extLst>
          </p:cNvPr>
          <p:cNvSpPr txBox="1"/>
          <p:nvPr/>
        </p:nvSpPr>
        <p:spPr>
          <a:xfrm>
            <a:off x="2722145" y="2870518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Draft Generated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F98DB5A-802E-BDC8-4883-6E8EE7D5C505}"/>
              </a:ext>
            </a:extLst>
          </p:cNvPr>
          <p:cNvSpPr/>
          <p:nvPr/>
        </p:nvSpPr>
        <p:spPr>
          <a:xfrm>
            <a:off x="3435014" y="3165702"/>
            <a:ext cx="96254" cy="245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11318E6-1EC2-15DE-FAA7-AB0E1204E5FD}"/>
              </a:ext>
            </a:extLst>
          </p:cNvPr>
          <p:cNvSpPr/>
          <p:nvPr/>
        </p:nvSpPr>
        <p:spPr>
          <a:xfrm>
            <a:off x="3435014" y="379186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191E7-71CF-1D38-11C7-E69D9691ACD3}"/>
              </a:ext>
            </a:extLst>
          </p:cNvPr>
          <p:cNvSpPr txBox="1"/>
          <p:nvPr/>
        </p:nvSpPr>
        <p:spPr>
          <a:xfrm>
            <a:off x="3025941" y="409069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Approve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EFAEB-E845-9C11-DDAB-06C17C2CA60E}"/>
              </a:ext>
            </a:extLst>
          </p:cNvPr>
          <p:cNvSpPr txBox="1"/>
          <p:nvPr/>
        </p:nvSpPr>
        <p:spPr>
          <a:xfrm>
            <a:off x="2637215" y="1892601"/>
            <a:ext cx="4578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Reminder Messages</a:t>
            </a:r>
          </a:p>
          <a:p>
            <a:br>
              <a:rPr lang="en-IN" sz="1400" dirty="0"/>
            </a:b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Instructor Prompt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74E65-EC98-F404-4508-C7220D9E88B5}"/>
              </a:ext>
            </a:extLst>
          </p:cNvPr>
          <p:cNvSpPr txBox="1"/>
          <p:nvPr/>
        </p:nvSpPr>
        <p:spPr>
          <a:xfrm>
            <a:off x="2776286" y="348032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Workflow Preview</a:t>
            </a:r>
            <a:endParaRPr lang="en-US" sz="1400" dirty="0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F9475587-6F4D-527A-4513-6D4A97514E8E}"/>
              </a:ext>
            </a:extLst>
          </p:cNvPr>
          <p:cNvSpPr/>
          <p:nvPr/>
        </p:nvSpPr>
        <p:spPr>
          <a:xfrm>
            <a:off x="3404923" y="445833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A158D-ACE9-A9B0-1127-36D54C64D69E}"/>
              </a:ext>
            </a:extLst>
          </p:cNvPr>
          <p:cNvSpPr txBox="1"/>
          <p:nvPr/>
        </p:nvSpPr>
        <p:spPr>
          <a:xfrm>
            <a:off x="2722145" y="4745375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Canvas Message Sent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6F8A0952-FBB9-4A0D-A673-906F052C2763}"/>
              </a:ext>
            </a:extLst>
          </p:cNvPr>
          <p:cNvSpPr/>
          <p:nvPr/>
        </p:nvSpPr>
        <p:spPr>
          <a:xfrm>
            <a:off x="3416952" y="5019454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9920F-8CB9-B30C-A8D1-60959C315C14}"/>
              </a:ext>
            </a:extLst>
          </p:cNvPr>
          <p:cNvSpPr txBox="1"/>
          <p:nvPr/>
        </p:nvSpPr>
        <p:spPr>
          <a:xfrm>
            <a:off x="2722145" y="524784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Audit Log Created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5661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7B5B-4043-F395-80CA-26DD500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52" y="864912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2</a:t>
            </a:r>
            <a:endParaRPr lang="en-US" sz="6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403BE82-8F7F-55C4-F3EA-6405F40C0780}"/>
              </a:ext>
            </a:extLst>
          </p:cNvPr>
          <p:cNvSpPr/>
          <p:nvPr/>
        </p:nvSpPr>
        <p:spPr>
          <a:xfrm>
            <a:off x="3380872" y="2605960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145F0-F0C5-A20A-F1EA-D83A9765E446}"/>
              </a:ext>
            </a:extLst>
          </p:cNvPr>
          <p:cNvSpPr txBox="1"/>
          <p:nvPr/>
        </p:nvSpPr>
        <p:spPr>
          <a:xfrm>
            <a:off x="2722145" y="2870518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Assignment Draft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F98DB5A-802E-BDC8-4883-6E8EE7D5C505}"/>
              </a:ext>
            </a:extLst>
          </p:cNvPr>
          <p:cNvSpPr/>
          <p:nvPr/>
        </p:nvSpPr>
        <p:spPr>
          <a:xfrm>
            <a:off x="3435014" y="3165702"/>
            <a:ext cx="96254" cy="245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11318E6-1EC2-15DE-FAA7-AB0E1204E5FD}"/>
              </a:ext>
            </a:extLst>
          </p:cNvPr>
          <p:cNvSpPr/>
          <p:nvPr/>
        </p:nvSpPr>
        <p:spPr>
          <a:xfrm>
            <a:off x="3435014" y="379186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191E7-71CF-1D38-11C7-E69D9691ACD3}"/>
              </a:ext>
            </a:extLst>
          </p:cNvPr>
          <p:cNvSpPr txBox="1"/>
          <p:nvPr/>
        </p:nvSpPr>
        <p:spPr>
          <a:xfrm>
            <a:off x="3025941" y="409069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Publish</a:t>
            </a:r>
            <a:endParaRPr lang="en-IN" sz="14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EFAEB-E845-9C11-DDAB-06C17C2CA60E}"/>
              </a:ext>
            </a:extLst>
          </p:cNvPr>
          <p:cNvSpPr txBox="1"/>
          <p:nvPr/>
        </p:nvSpPr>
        <p:spPr>
          <a:xfrm>
            <a:off x="2637215" y="1892601"/>
            <a:ext cx="4578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Assignment Creation</a:t>
            </a:r>
          </a:p>
          <a:p>
            <a:br>
              <a:rPr lang="en-IN" sz="1400" dirty="0"/>
            </a:b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Instructor Prompt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74E65-EC98-F404-4508-C7220D9E88B5}"/>
              </a:ext>
            </a:extLst>
          </p:cNvPr>
          <p:cNvSpPr txBox="1"/>
          <p:nvPr/>
        </p:nvSpPr>
        <p:spPr>
          <a:xfrm>
            <a:off x="3025941" y="3477727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Preview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70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7B5B-4043-F395-80CA-26DD500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52" y="864912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3</a:t>
            </a:r>
            <a:endParaRPr lang="en-US" sz="6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403BE82-8F7F-55C4-F3EA-6405F40C0780}"/>
              </a:ext>
            </a:extLst>
          </p:cNvPr>
          <p:cNvSpPr/>
          <p:nvPr/>
        </p:nvSpPr>
        <p:spPr>
          <a:xfrm>
            <a:off x="3380872" y="2605960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145F0-F0C5-A20A-F1EA-D83A9765E446}"/>
              </a:ext>
            </a:extLst>
          </p:cNvPr>
          <p:cNvSpPr txBox="1"/>
          <p:nvPr/>
        </p:nvSpPr>
        <p:spPr>
          <a:xfrm>
            <a:off x="2902618" y="2882642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Analysis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F98DB5A-802E-BDC8-4883-6E8EE7D5C505}"/>
              </a:ext>
            </a:extLst>
          </p:cNvPr>
          <p:cNvSpPr/>
          <p:nvPr/>
        </p:nvSpPr>
        <p:spPr>
          <a:xfrm>
            <a:off x="3435014" y="3165702"/>
            <a:ext cx="96254" cy="245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11318E6-1EC2-15DE-FAA7-AB0E1204E5FD}"/>
              </a:ext>
            </a:extLst>
          </p:cNvPr>
          <p:cNvSpPr/>
          <p:nvPr/>
        </p:nvSpPr>
        <p:spPr>
          <a:xfrm>
            <a:off x="3435014" y="379186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191E7-71CF-1D38-11C7-E69D9691ACD3}"/>
              </a:ext>
            </a:extLst>
          </p:cNvPr>
          <p:cNvSpPr txBox="1"/>
          <p:nvPr/>
        </p:nvSpPr>
        <p:spPr>
          <a:xfrm>
            <a:off x="2776286" y="4102583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Recommendations</a:t>
            </a:r>
            <a:endParaRPr lang="en-IN" sz="14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EFAEB-E845-9C11-DDAB-06C17C2CA60E}"/>
              </a:ext>
            </a:extLst>
          </p:cNvPr>
          <p:cNvSpPr txBox="1"/>
          <p:nvPr/>
        </p:nvSpPr>
        <p:spPr>
          <a:xfrm>
            <a:off x="2755231" y="1894423"/>
            <a:ext cx="4578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Missing Submission Analysis</a:t>
            </a:r>
          </a:p>
          <a:p>
            <a:br>
              <a:rPr lang="en-IN" sz="1400" dirty="0"/>
            </a:b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Canvas Data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74E65-EC98-F404-4508-C7220D9E88B5}"/>
              </a:ext>
            </a:extLst>
          </p:cNvPr>
          <p:cNvSpPr txBox="1"/>
          <p:nvPr/>
        </p:nvSpPr>
        <p:spPr>
          <a:xfrm>
            <a:off x="2722145" y="3495040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dirty="0">
                <a:solidFill>
                  <a:srgbClr val="000000"/>
                </a:solidFill>
                <a:latin typeface="-webkit-standard"/>
              </a:rPr>
              <a:t>At-Risk Students</a:t>
            </a:r>
          </a:p>
        </p:txBody>
      </p:sp>
    </p:spTree>
    <p:extLst>
      <p:ext uri="{BB962C8B-B14F-4D97-AF65-F5344CB8AC3E}">
        <p14:creationId xmlns:p14="http://schemas.microsoft.com/office/powerpoint/2010/main" val="54548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5B97-C3A7-BD8A-018F-F0E749A9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817" y="948899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ER Diagram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8B3748-0A32-41DB-84CA-02227E1D2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5" y="1998134"/>
            <a:ext cx="5871411" cy="32619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6477F1-DEC1-647A-8B12-10FC6C35F4D1}"/>
              </a:ext>
            </a:extLst>
          </p:cNvPr>
          <p:cNvSpPr txBox="1"/>
          <p:nvPr/>
        </p:nvSpPr>
        <p:spPr>
          <a:xfrm>
            <a:off x="6676320" y="2274838"/>
            <a:ext cx="4578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Why this structure?</a:t>
            </a:r>
          </a:p>
          <a:p>
            <a:pPr algn="l"/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Supports: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Role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Course tracking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AI conversations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Approval workflows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Auditability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CA6B8-E7DF-AB7B-F142-1C0B697B25A3}"/>
              </a:ext>
            </a:extLst>
          </p:cNvPr>
          <p:cNvSpPr txBox="1"/>
          <p:nvPr/>
        </p:nvSpPr>
        <p:spPr>
          <a:xfrm>
            <a:off x="120316" y="5377330"/>
            <a:ext cx="8939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workflow and audit log tables enforce our human-in-the-loop design by ensuring all AI-generated actions are reviewed, approved, and traceable.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47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1775" y="1225626"/>
            <a:ext cx="6571343" cy="1049235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IN" sz="4000" dirty="0">
                <a:solidFill>
                  <a:srgbClr val="000000"/>
                </a:solidFill>
                <a:latin typeface="-webkit-standard"/>
              </a:rPr>
              <a:t>DATA FLOW DIAGRAM(L1)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D6C56-7DAB-9F40-F4CE-A4832B113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7389"/>
            <a:ext cx="6966284" cy="4277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C7CE7-29E7-95FE-89EB-FB94428FD8F0}"/>
              </a:ext>
            </a:extLst>
          </p:cNvPr>
          <p:cNvSpPr txBox="1"/>
          <p:nvPr/>
        </p:nvSpPr>
        <p:spPr>
          <a:xfrm>
            <a:off x="7065545" y="1847389"/>
            <a:ext cx="45780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Workflow</a:t>
            </a:r>
          </a:p>
          <a:p>
            <a:pPr algn="l"/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User Request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AI Interpretation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Validation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Workflow Preview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Approval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Canvas Execution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Audit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2DEF-B169-2015-B778-1468022E3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77499"/>
            <a:ext cx="6571343" cy="1049235"/>
          </a:xfrm>
        </p:spPr>
        <p:txBody>
          <a:bodyPr>
            <a:noAutofit/>
          </a:bodyPr>
          <a:lstStyle/>
          <a:p>
            <a:r>
              <a:rPr lang="en-IN" sz="4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Instructor Dashboard</a:t>
            </a:r>
            <a:endParaRPr lang="en-US" sz="4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C0FC33-9AC8-FFF2-5FA7-7C6508FC1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1464" y="1876926"/>
            <a:ext cx="5510462" cy="4160903"/>
          </a:xfrm>
        </p:spPr>
      </p:pic>
    </p:spTree>
    <p:extLst>
      <p:ext uri="{BB962C8B-B14F-4D97-AF65-F5344CB8AC3E}">
        <p14:creationId xmlns:p14="http://schemas.microsoft.com/office/powerpoint/2010/main" val="427753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2424-AFBD-D7D6-AC43-C5F32F1A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707" y="1261720"/>
            <a:ext cx="6571343" cy="1049235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Assistant + Workflow Preview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82C63-C36C-9749-AA99-41362DA7E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58" y="1900990"/>
            <a:ext cx="4199021" cy="4223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CB5342-DFD3-2A79-E693-561843508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380" y="1900991"/>
            <a:ext cx="3910262" cy="1528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FF314-C707-C1B5-0054-3AC695ED9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379" y="3446406"/>
            <a:ext cx="3910262" cy="266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60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F507-3942-AB0A-6DFE-7B6DA50E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22" y="1129372"/>
            <a:ext cx="6571343" cy="1049235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Missing Submission Analysis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CF8096-6C9F-07FE-0094-49B3DD342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35" y="1888957"/>
            <a:ext cx="7052307" cy="41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13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6F79-203F-DA3B-AE42-A3078CAF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41405"/>
            <a:ext cx="6571343" cy="1049235"/>
          </a:xfrm>
        </p:spPr>
        <p:txBody>
          <a:bodyPr>
            <a:normAutofit/>
          </a:bodyPr>
          <a:lstStyle/>
          <a:p>
            <a:r>
              <a:rPr lang="en-IN" sz="4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Tech Stack + Conclusion</a:t>
            </a:r>
            <a:endParaRPr lang="en-US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5F79D-EFB3-C6AB-7172-53A6C5429F67}"/>
              </a:ext>
            </a:extLst>
          </p:cNvPr>
          <p:cNvSpPr txBox="1"/>
          <p:nvPr/>
        </p:nvSpPr>
        <p:spPr>
          <a:xfrm>
            <a:off x="448176" y="2058678"/>
            <a:ext cx="45780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Design Decisions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Local AI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Human-in-the-loop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MCP Security Boundary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Audit Logging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8A948-06A9-3F52-BA92-3F38638B404D}"/>
              </a:ext>
            </a:extLst>
          </p:cNvPr>
          <p:cNvSpPr txBox="1"/>
          <p:nvPr/>
        </p:nvSpPr>
        <p:spPr>
          <a:xfrm>
            <a:off x="4346408" y="1937273"/>
            <a:ext cx="45780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Proposed Tech Stack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Frontend:    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React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TypeScript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Tailwind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Backend: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FastAPI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Pydantic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Python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7E296-1E26-2DC6-C4C8-857B773A70D8}"/>
              </a:ext>
            </a:extLst>
          </p:cNvPr>
          <p:cNvSpPr txBox="1"/>
          <p:nvPr/>
        </p:nvSpPr>
        <p:spPr>
          <a:xfrm>
            <a:off x="6854992" y="2247844"/>
            <a:ext cx="45780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AI: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Llama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Database: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PostgreSQL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69DAE2-74EA-94CE-1127-2ADB96843122}"/>
              </a:ext>
            </a:extLst>
          </p:cNvPr>
          <p:cNvSpPr txBox="1"/>
          <p:nvPr/>
        </p:nvSpPr>
        <p:spPr>
          <a:xfrm>
            <a:off x="3008" y="5393429"/>
            <a:ext cx="8731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secure AI-powered assistant that simplifies Canvas workflows while maintaining privacy, transparency, and instructor control.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999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{8A10EB92-C767-CC43-9DA0-12F1E8479B88}tf10001119_mac</Template>
  <TotalTime>925</TotalTime>
  <Words>348</Words>
  <Application>Microsoft Macintosh PowerPoint</Application>
  <PresentationFormat>On-screen Show (4:3)</PresentationFormat>
  <Paragraphs>130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-webkit-standard</vt:lpstr>
      <vt:lpstr>Arial</vt:lpstr>
      <vt:lpstr>Calibri</vt:lpstr>
      <vt:lpstr>Gill Sans MT</vt:lpstr>
      <vt:lpstr>Gallery</vt:lpstr>
      <vt:lpstr>Team 16 - Safe AI-Powered Canvas Workflow Assistant</vt:lpstr>
      <vt:lpstr>MEET THE Team</vt:lpstr>
      <vt:lpstr>Project Purpose &amp; Problem Statement</vt:lpstr>
      <vt:lpstr>System Architecture</vt:lpstr>
      <vt:lpstr>Architecture Rationale</vt:lpstr>
      <vt:lpstr>Use Case Diagram </vt:lpstr>
      <vt:lpstr>PowerPoint Presentation</vt:lpstr>
      <vt:lpstr>Use Case 1</vt:lpstr>
      <vt:lpstr>Use Case 2</vt:lpstr>
      <vt:lpstr>Use Case 3</vt:lpstr>
      <vt:lpstr>ER Diagram</vt:lpstr>
      <vt:lpstr>DATA FLOW DIAGRAM(L1)</vt:lpstr>
      <vt:lpstr>Instructor Dashboard</vt:lpstr>
      <vt:lpstr>AI Assistant + Workflow Preview</vt:lpstr>
      <vt:lpstr>Missing Submission Analysis</vt:lpstr>
      <vt:lpstr>Tech Stack +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16 - Safe AI-Powered Canvas Workflow Assistant</dc:title>
  <dc:subject/>
  <dc:creator/>
  <cp:keywords/>
  <dc:description>generated using python-pptx</dc:description>
  <cp:lastModifiedBy>jgoel01@student.ubc.ca</cp:lastModifiedBy>
  <cp:revision>11</cp:revision>
  <dcterms:created xsi:type="dcterms:W3CDTF">2013-01-27T09:14:16Z</dcterms:created>
  <dcterms:modified xsi:type="dcterms:W3CDTF">2026-06-04T03:56:49Z</dcterms:modified>
  <cp:category/>
</cp:coreProperties>
</file>