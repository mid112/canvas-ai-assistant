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ileron" pitchFamily="2" charset="77"/>
      <p:regular r:id="rId16"/>
    </p:embeddedFont>
    <p:embeddedFont>
      <p:font typeface="Aileron Bold" pitchFamily="2" charset="77"/>
      <p:regular r:id="rId17"/>
      <p:bold r:id="rId18"/>
    </p:embeddedFont>
    <p:embeddedFont>
      <p:font typeface="Arimo" panose="020B0604020202020204" pitchFamily="34" charset="0"/>
      <p:regular r:id="rId19"/>
    </p:embeddedFont>
    <p:embeddedFont>
      <p:font typeface="Arimo Bold" panose="020B0704020202020204" pitchFamily="34" charset="0"/>
      <p:regular r:id="rId20"/>
      <p:bold r:id="rId21"/>
    </p:embeddedFont>
    <p:embeddedFont>
      <p:font typeface="Calibri" panose="020F0502020204030204"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autoAdjust="0"/>
    <p:restoredTop sz="94624" autoAdjust="0"/>
  </p:normalViewPr>
  <p:slideViewPr>
    <p:cSldViewPr>
      <p:cViewPr>
        <p:scale>
          <a:sx n="63" d="100"/>
          <a:sy n="63" d="100"/>
        </p:scale>
        <p:origin x="1144" y="4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505A27-A4DB-12DA-A3BA-6B82B2A9B8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ECB0192-0F60-DE29-C786-98C4B9EBBE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0EE1F3-D407-D64A-BECC-0DFB7F7EF245}" type="datetimeFigureOut">
              <a:rPr lang="en-US" smtClean="0"/>
              <a:t>7/7/26</a:t>
            </a:fld>
            <a:endParaRPr lang="en-US"/>
          </a:p>
        </p:txBody>
      </p:sp>
      <p:sp>
        <p:nvSpPr>
          <p:cNvPr id="4" name="Footer Placeholder 3">
            <a:extLst>
              <a:ext uri="{FF2B5EF4-FFF2-40B4-BE49-F238E27FC236}">
                <a16:creationId xmlns:a16="http://schemas.microsoft.com/office/drawing/2014/main" id="{3BBA037E-9DF4-6639-F675-D439C35F25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71D8E2C-5F48-37A2-3F81-BA7AAA17B07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97657C-B19D-D742-868B-C56A2D8ED513}" type="slidenum">
              <a:rPr lang="en-US" smtClean="0"/>
              <a:t>‹#›</a:t>
            </a:fld>
            <a:endParaRPr lang="en-US"/>
          </a:p>
        </p:txBody>
      </p:sp>
    </p:spTree>
    <p:extLst>
      <p:ext uri="{BB962C8B-B14F-4D97-AF65-F5344CB8AC3E}">
        <p14:creationId xmlns:p14="http://schemas.microsoft.com/office/powerpoint/2010/main" val="2470479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49C530-87C7-CF43-A595-ADD172F2CC4F}"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15542-882C-0E43-A2C9-D9A392087125}" type="slidenum">
              <a:rPr lang="en-US" smtClean="0"/>
              <a:t>‹#›</a:t>
            </a:fld>
            <a:endParaRPr lang="en-US"/>
          </a:p>
        </p:txBody>
      </p:sp>
    </p:spTree>
    <p:extLst>
      <p:ext uri="{BB962C8B-B14F-4D97-AF65-F5344CB8AC3E}">
        <p14:creationId xmlns:p14="http://schemas.microsoft.com/office/powerpoint/2010/main" val="47210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2</a:t>
            </a:fld>
            <a:endParaRPr lang="en-US"/>
          </a:p>
        </p:txBody>
      </p:sp>
    </p:spTree>
    <p:extLst>
      <p:ext uri="{BB962C8B-B14F-4D97-AF65-F5344CB8AC3E}">
        <p14:creationId xmlns:p14="http://schemas.microsoft.com/office/powerpoint/2010/main" val="2886254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b="0" i="0" dirty="0">
                <a:effectLst/>
                <a:latin typeface="gg mono"/>
              </a:rPr>
              <a:t>Since our last milestone, we made some significant architectural changes, and I want to walk you through why. Our old system architecture relied on a single local </a:t>
            </a:r>
            <a:r>
              <a:rPr lang="en-IN" b="0" i="0" dirty="0" err="1">
                <a:effectLst/>
                <a:latin typeface="gg mono"/>
              </a:rPr>
              <a:t>Ollama</a:t>
            </a:r>
            <a:r>
              <a:rPr lang="en-IN" b="0" i="0" dirty="0">
                <a:effectLst/>
                <a:latin typeface="gg mono"/>
              </a:rPr>
              <a:t> model for all AI processing, with requests routed directly through the MCP server, a fairly monolithic backend, and a basic database structure that only really handled authentication and Canvas data. In our new architecture, we introduced a provider-independent LLM Adapter Layer, so we're no longer locked into one local model — we can now support both local and cloud-hosted providers. We also refactored the backend into modular routers: Authentication, Canvas, Chat, Preview, Messages, and Admin. On top of that, we added a workflow engine that validates actions before anything touches Canvas, and we expanded our PostgreSQL schema to support conversations, workflows, templates, and audit logs.</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3</a:t>
            </a:fld>
            <a:endParaRPr lang="en-US"/>
          </a:p>
        </p:txBody>
      </p:sp>
    </p:spTree>
    <p:extLst>
      <p:ext uri="{BB962C8B-B14F-4D97-AF65-F5344CB8AC3E}">
        <p14:creationId xmlns:p14="http://schemas.microsoft.com/office/powerpoint/2010/main" val="515222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effectLst/>
                <a:latin typeface="gg mono"/>
              </a:rPr>
              <a:t>We made these changes for a few concrete reasons. First, relying on a single local model limited us — we wanted flexibility to support multiple LLM providers and reduce hardware requirements by allowing cloud-hosted options. Second, the modular backend makes the system dramatically easier to extend and maintain going forward. And third, the workflow engine gives us proper validation before executing Canvas operations, which improves both security and safety. The overall impact is a system that's more scalable, supports multiple AI providers, is more secure, and sets us up to build new features much faster than before.</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4</a:t>
            </a:fld>
            <a:endParaRPr lang="en-US"/>
          </a:p>
        </p:txBody>
      </p:sp>
    </p:spTree>
    <p:extLst>
      <p:ext uri="{BB962C8B-B14F-4D97-AF65-F5344CB8AC3E}">
        <p14:creationId xmlns:p14="http://schemas.microsoft.com/office/powerpoint/2010/main" val="3160520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effectLst/>
                <a:latin typeface="gg mono"/>
              </a:rPr>
              <a:t>This is our requirements testing report, tracked against our WBS and user requirements. As you can see, we've broken this down by user role — Instructor and Administrator — and mapped each requirement to a testing type: unit, integration, system, or acceptance testing. Every single requirement listed here is currently passing. That includes core administrator flows like securely connecting a Canvas API token, viewing and selecting active courses, </a:t>
            </a:r>
            <a:r>
              <a:rPr lang="en-IN" b="0" i="0" dirty="0" err="1">
                <a:effectLst/>
                <a:latin typeface="gg mono"/>
              </a:rPr>
              <a:t>analyzing</a:t>
            </a:r>
            <a:r>
              <a:rPr lang="en-IN" b="0" i="0" dirty="0">
                <a:effectLst/>
                <a:latin typeface="gg mono"/>
              </a:rPr>
              <a:t> missing and late submissions, and the natural-language assistant capabilities — asking questions about course data, drafting and previewing messages, and reviewing or cancelling proposed Canvas actions before execution. At this stage, we've completed all of our planned MVP frontend, backend, and integration features, which puts us at roughly full completion of our Feature Set #1 scope — the rest of our remaining work going forward is testing depth, bug fixing, and refinement rather than net-new features</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5</a:t>
            </a:fld>
            <a:endParaRPr lang="en-US"/>
          </a:p>
        </p:txBody>
      </p:sp>
    </p:spTree>
    <p:extLst>
      <p:ext uri="{BB962C8B-B14F-4D97-AF65-F5344CB8AC3E}">
        <p14:creationId xmlns:p14="http://schemas.microsoft.com/office/powerpoint/2010/main" val="315111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b="0" i="0" dirty="0">
                <a:effectLst/>
                <a:latin typeface="gg mono"/>
              </a:rPr>
              <a:t>Here's our burn-up chart tracking planned versus completed work over time. You can see the scope — the green line — expanded significantly in mid-June as we added detailed MVP features and sub-issues during planning. Completion, the purple dashed line, climbed steadily through the milestone, with a large jump right near the MVP deadline as integrated features were finalized and merged. Going forward, our goal is more consistent week-to-week progress, more focus on testing and code quality, and smaller incremental completions so we're not backloading work at the end of each milestone.</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6</a:t>
            </a:fld>
            <a:endParaRPr lang="en-US"/>
          </a:p>
        </p:txBody>
      </p:sp>
    </p:spTree>
    <p:extLst>
      <p:ext uri="{BB962C8B-B14F-4D97-AF65-F5344CB8AC3E}">
        <p14:creationId xmlns:p14="http://schemas.microsoft.com/office/powerpoint/2010/main" val="999846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IN" b="0" i="0" dirty="0">
                <a:effectLst/>
                <a:latin typeface="gg mono"/>
              </a:rPr>
              <a:t>In terms of hours, we've logged 448 team hours to date, split fairly evenly across the five of us, as shown in the breakdown here. That effort has gone primarily into implementation, integration, and validation work, and it's what got us to a fully functional MVP with Feature Set #1 delivered. Moving forward, we're allocating more of our estimated hours toward comprehensive testing and bug fixing, improving test coverage and reliability, and refining the UI and UX based on feedback.</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7</a:t>
            </a:fld>
            <a:endParaRPr lang="en-US"/>
          </a:p>
        </p:txBody>
      </p:sp>
    </p:spTree>
    <p:extLst>
      <p:ext uri="{BB962C8B-B14F-4D97-AF65-F5344CB8AC3E}">
        <p14:creationId xmlns:p14="http://schemas.microsoft.com/office/powerpoint/2010/main" val="2915295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effectLst/>
                <a:latin typeface="gg mono"/>
              </a:rPr>
              <a:t>On the testing side, we have three active layers in place. </a:t>
            </a:r>
            <a:r>
              <a:rPr lang="en-IN" b="0" i="0" dirty="0" err="1">
                <a:effectLst/>
                <a:latin typeface="gg mono"/>
              </a:rPr>
              <a:t>Pytest</a:t>
            </a:r>
            <a:r>
              <a:rPr lang="en-IN" b="0" i="0" dirty="0">
                <a:effectLst/>
                <a:latin typeface="gg mono"/>
              </a:rPr>
              <a:t> covers our unit tests for models and logic — users, courses, and application models. </a:t>
            </a:r>
            <a:r>
              <a:rPr lang="en-IN" b="0" i="0" dirty="0" err="1">
                <a:effectLst/>
                <a:latin typeface="gg mono"/>
              </a:rPr>
              <a:t>Vitest</a:t>
            </a:r>
            <a:r>
              <a:rPr lang="en-IN" b="0" i="0" dirty="0">
                <a:effectLst/>
                <a:latin typeface="gg mono"/>
              </a:rPr>
              <a:t> covers our frontend tests — DOM </a:t>
            </a:r>
            <a:r>
              <a:rPr lang="en-IN" b="0" i="0" dirty="0" err="1">
                <a:effectLst/>
                <a:latin typeface="gg mono"/>
              </a:rPr>
              <a:t>behavior</a:t>
            </a:r>
            <a:r>
              <a:rPr lang="en-IN" b="0" i="0" dirty="0">
                <a:effectLst/>
                <a:latin typeface="gg mono"/>
              </a:rPr>
              <a:t> and form validation. And GitHub Actions runs our full test suite automatically on every pull request, so nothing merges without passing CI.</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8</a:t>
            </a:fld>
            <a:endParaRPr lang="en-US"/>
          </a:p>
        </p:txBody>
      </p:sp>
    </p:spTree>
    <p:extLst>
      <p:ext uri="{BB962C8B-B14F-4D97-AF65-F5344CB8AC3E}">
        <p14:creationId xmlns:p14="http://schemas.microsoft.com/office/powerpoint/2010/main" val="2296153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effectLst/>
                <a:latin typeface="gg mono"/>
              </a:rPr>
              <a:t>And here's the proof in practice. On the frontend, our latest </a:t>
            </a:r>
            <a:r>
              <a:rPr lang="en-IN" b="0" i="0" dirty="0" err="1">
                <a:effectLst/>
                <a:latin typeface="gg mono"/>
              </a:rPr>
              <a:t>Vitest</a:t>
            </a:r>
            <a:r>
              <a:rPr lang="en-IN" b="0" i="0" dirty="0">
                <a:effectLst/>
                <a:latin typeface="gg mono"/>
              </a:rPr>
              <a:t> run shows 143 test files and 522 individual tests, all passing, covering everything from validation logic and audit logs to workflow history, Canvas connections, and assignment creation. On the backend, our </a:t>
            </a:r>
            <a:r>
              <a:rPr lang="en-IN" b="0" i="0" dirty="0" err="1">
                <a:effectLst/>
                <a:latin typeface="gg mono"/>
              </a:rPr>
              <a:t>Pytest</a:t>
            </a:r>
            <a:r>
              <a:rPr lang="en-IN" b="0" i="0" dirty="0">
                <a:effectLst/>
                <a:latin typeface="gg mono"/>
              </a:rPr>
              <a:t> suite covers areas like authentication, admin management, chat, course overviews, missing and late submissions, message validation, and workflow history — 313 tests passing, with just one skipped. So testing isn't an afterthought here — it's running continuously alongside development, which is exactly what's let us move this fast with confidence in what we're shipping</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9</a:t>
            </a:fld>
            <a:endParaRPr lang="en-US"/>
          </a:p>
        </p:txBody>
      </p:sp>
    </p:spTree>
    <p:extLst>
      <p:ext uri="{BB962C8B-B14F-4D97-AF65-F5344CB8AC3E}">
        <p14:creationId xmlns:p14="http://schemas.microsoft.com/office/powerpoint/2010/main" val="1810669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effectLst/>
                <a:latin typeface="gg mono"/>
              </a:rPr>
              <a:t>. That brings us to the live demo. ill hand it over to </a:t>
            </a:r>
            <a:r>
              <a:rPr lang="en-IN" b="0" i="0" dirty="0" err="1">
                <a:effectLst/>
                <a:latin typeface="gg mono"/>
              </a:rPr>
              <a:t>yerdana</a:t>
            </a:r>
            <a:r>
              <a:rPr lang="en-IN" b="0" i="0" dirty="0">
                <a:effectLst/>
                <a:latin typeface="gg mono"/>
              </a:rPr>
              <a:t> now </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10</a:t>
            </a:fld>
            <a:endParaRPr lang="en-US"/>
          </a:p>
        </p:txBody>
      </p:sp>
    </p:spTree>
    <p:extLst>
      <p:ext uri="{BB962C8B-B14F-4D97-AF65-F5344CB8AC3E}">
        <p14:creationId xmlns:p14="http://schemas.microsoft.com/office/powerpoint/2010/main" val="681925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000000"/>
                </a:solidFill>
                <a:effectLst/>
                <a:latin typeface="-webkit-standard"/>
              </a:rPr>
              <a:t>That wraps up our demo. We'd love to open it up for any questions you have — about the architecture, our testing approach, the roadmap, or anything you saw in the demo.</a:t>
            </a:r>
            <a:endParaRPr lang="en-US" dirty="0"/>
          </a:p>
        </p:txBody>
      </p:sp>
      <p:sp>
        <p:nvSpPr>
          <p:cNvPr id="4" name="Slide Number Placeholder 3"/>
          <p:cNvSpPr>
            <a:spLocks noGrp="1"/>
          </p:cNvSpPr>
          <p:nvPr>
            <p:ph type="sldNum" sz="quarter" idx="5"/>
          </p:nvPr>
        </p:nvSpPr>
        <p:spPr/>
        <p:txBody>
          <a:bodyPr/>
          <a:lstStyle/>
          <a:p>
            <a:fld id="{37C15542-882C-0E43-A2C9-D9A392087125}" type="slidenum">
              <a:rPr lang="en-US" smtClean="0"/>
              <a:t>11</a:t>
            </a:fld>
            <a:endParaRPr lang="en-US"/>
          </a:p>
        </p:txBody>
      </p:sp>
    </p:spTree>
    <p:extLst>
      <p:ext uri="{BB962C8B-B14F-4D97-AF65-F5344CB8AC3E}">
        <p14:creationId xmlns:p14="http://schemas.microsoft.com/office/powerpoint/2010/main" val="1867341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F81DFEF-A0C7-D84F-AE92-A63095AA55FC}" type="datetime1">
              <a:rPr lang="en-IN" smtClean="0"/>
              <a:t>07/07/26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BDFF76-7975-EE40-A592-20498838C27B}" type="datetime1">
              <a:rPr lang="en-IN" smtClean="0"/>
              <a:t>07/07/26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82F29C-BD8F-8741-BC2D-AE597ED4F32A}" type="datetime1">
              <a:rPr lang="en-IN" smtClean="0"/>
              <a:t>07/07/26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21C46F-FA1B-5540-A3A4-105932CC5F6B}" type="datetime1">
              <a:rPr lang="en-IN" smtClean="0"/>
              <a:t>07/07/26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C6F893-56F0-D74E-93E7-CDFED71BEC19}" type="datetime1">
              <a:rPr lang="en-IN" smtClean="0"/>
              <a:t>07/07/26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ECE2F3-316A-8C44-8486-0847A9D750B5}" type="datetime1">
              <a:rPr lang="en-IN" smtClean="0"/>
              <a:t>07/07/26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8E911B-A8AD-2C41-96CD-2AF187763541}" type="datetime1">
              <a:rPr lang="en-IN" smtClean="0"/>
              <a:t>07/07/26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DA1A88-D66C-5E4F-949C-0F9F9727C370}" type="datetime1">
              <a:rPr lang="en-IN" smtClean="0"/>
              <a:t>07/07/26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A4A924-0895-C94D-9E34-E92A4AC5C28A}" type="datetime1">
              <a:rPr lang="en-IN" smtClean="0"/>
              <a:t>07/07/26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0F82A8-A48A-6841-96A4-50D66819805E}" type="datetime1">
              <a:rPr lang="en-IN" smtClean="0"/>
              <a:t>07/07/26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E210A3-2751-FA44-A077-26629A47760D}" type="datetime1">
              <a:rPr lang="en-IN" smtClean="0"/>
              <a:t>07/07/26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AFF492-4A21-4D48-9FE6-98D5AD860670}" type="datetime1">
              <a:rPr lang="en-IN" smtClean="0"/>
              <a:t>07/07/26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p>
        </p:txBody>
      </p:sp>
      <p:sp>
        <p:nvSpPr>
          <p:cNvPr id="3" name="TextBox 3"/>
          <p:cNvSpPr txBox="1"/>
          <p:nvPr/>
        </p:nvSpPr>
        <p:spPr>
          <a:xfrm>
            <a:off x="359656" y="622169"/>
            <a:ext cx="17568687" cy="4846103"/>
          </a:xfrm>
          <a:prstGeom prst="rect">
            <a:avLst/>
          </a:prstGeom>
        </p:spPr>
        <p:txBody>
          <a:bodyPr lIns="0" tIns="0" rIns="0" bIns="0" rtlCol="0" anchor="t">
            <a:spAutoFit/>
          </a:bodyPr>
          <a:lstStyle/>
          <a:p>
            <a:pPr algn="l">
              <a:lnSpc>
                <a:spcPts val="18666"/>
              </a:lnSpc>
            </a:pPr>
            <a:r>
              <a:rPr lang="en-US" sz="18666" b="1" spc="-690">
                <a:solidFill>
                  <a:srgbClr val="FFFFFF"/>
                </a:solidFill>
                <a:latin typeface="Aileron Bold"/>
                <a:ea typeface="Aileron Bold"/>
                <a:cs typeface="Aileron Bold"/>
                <a:sym typeface="Aileron Bold"/>
              </a:rPr>
              <a:t>MVP DEMO PRESENTATION</a:t>
            </a:r>
          </a:p>
        </p:txBody>
      </p:sp>
      <p:sp>
        <p:nvSpPr>
          <p:cNvPr id="4" name="TextBox 4"/>
          <p:cNvSpPr txBox="1"/>
          <p:nvPr/>
        </p:nvSpPr>
        <p:spPr>
          <a:xfrm>
            <a:off x="5398798" y="5942347"/>
            <a:ext cx="3490028" cy="639446"/>
          </a:xfrm>
          <a:prstGeom prst="rect">
            <a:avLst/>
          </a:prstGeom>
        </p:spPr>
        <p:txBody>
          <a:bodyPr lIns="0" tIns="0" rIns="0" bIns="0" rtlCol="0" anchor="t">
            <a:spAutoFit/>
          </a:bodyPr>
          <a:lstStyle/>
          <a:p>
            <a:pPr algn="l">
              <a:lnSpc>
                <a:spcPts val="5179"/>
              </a:lnSpc>
              <a:spcBef>
                <a:spcPct val="0"/>
              </a:spcBef>
            </a:pPr>
            <a:r>
              <a:rPr lang="en-US" sz="3699" b="1">
                <a:solidFill>
                  <a:srgbClr val="FFFFFF"/>
                </a:solidFill>
                <a:latin typeface="Aileron Bold"/>
                <a:ea typeface="Aileron Bold"/>
                <a:cs typeface="Aileron Bold"/>
                <a:sym typeface="Aileron Bold"/>
              </a:rPr>
              <a:t>Presented by :</a:t>
            </a:r>
          </a:p>
        </p:txBody>
      </p:sp>
      <p:sp>
        <p:nvSpPr>
          <p:cNvPr id="5" name="TextBox 5"/>
          <p:cNvSpPr txBox="1"/>
          <p:nvPr/>
        </p:nvSpPr>
        <p:spPr>
          <a:xfrm>
            <a:off x="8888826" y="6008388"/>
            <a:ext cx="3490028" cy="573406"/>
          </a:xfrm>
          <a:prstGeom prst="rect">
            <a:avLst/>
          </a:prstGeom>
        </p:spPr>
        <p:txBody>
          <a:bodyPr lIns="0" tIns="0" rIns="0" bIns="0" rtlCol="0" anchor="t">
            <a:spAutoFit/>
          </a:bodyPr>
          <a:lstStyle/>
          <a:p>
            <a:pPr algn="l">
              <a:lnSpc>
                <a:spcPts val="4619"/>
              </a:lnSpc>
              <a:spcBef>
                <a:spcPct val="0"/>
              </a:spcBef>
            </a:pPr>
            <a:r>
              <a:rPr lang="en-US" sz="3299">
                <a:solidFill>
                  <a:srgbClr val="FFFFFF"/>
                </a:solidFill>
                <a:latin typeface="Aileron"/>
                <a:ea typeface="Aileron"/>
                <a:cs typeface="Aileron"/>
                <a:sym typeface="Aileron"/>
              </a:rPr>
              <a:t>Team 16</a:t>
            </a:r>
          </a:p>
        </p:txBody>
      </p:sp>
      <p:sp>
        <p:nvSpPr>
          <p:cNvPr id="12" name="TextBox 11">
            <a:extLst>
              <a:ext uri="{FF2B5EF4-FFF2-40B4-BE49-F238E27FC236}">
                <a16:creationId xmlns:a16="http://schemas.microsoft.com/office/drawing/2014/main" id="{30FC9E69-A60B-1433-A6C3-721501A2915C}"/>
              </a:ext>
            </a:extLst>
          </p:cNvPr>
          <p:cNvSpPr txBox="1"/>
          <p:nvPr/>
        </p:nvSpPr>
        <p:spPr>
          <a:xfrm>
            <a:off x="17557502" y="9375851"/>
            <a:ext cx="381001" cy="369332"/>
          </a:xfrm>
          <a:prstGeom prst="rect">
            <a:avLst/>
          </a:prstGeom>
          <a:noFill/>
        </p:spPr>
        <p:txBody>
          <a:bodyPr wrap="square" rtlCol="0">
            <a:spAutoFit/>
          </a:bodyPr>
          <a:lstStyle/>
          <a:p>
            <a:r>
              <a:rPr lang="en-US" dirty="0">
                <a:solidFill>
                  <a:schemeClr val="bg1">
                    <a:lumMod val="95000"/>
                  </a:schemeClr>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grpSp>
        <p:nvGrpSpPr>
          <p:cNvPr id="3" name="Group 3"/>
          <p:cNvGrpSpPr/>
          <p:nvPr/>
        </p:nvGrpSpPr>
        <p:grpSpPr>
          <a:xfrm>
            <a:off x="622471" y="4402968"/>
            <a:ext cx="2736219" cy="273621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b="-13385"/>
              </a:stretch>
            </a:blipFill>
            <a:ln w="142875" cap="sq">
              <a:solidFill>
                <a:srgbClr val="FFFFFF"/>
              </a:solidFill>
              <a:prstDash val="solid"/>
              <a:miter/>
            </a:ln>
          </p:spPr>
        </p:sp>
      </p:grpSp>
      <p:grpSp>
        <p:nvGrpSpPr>
          <p:cNvPr id="5" name="Group 5"/>
          <p:cNvGrpSpPr/>
          <p:nvPr/>
        </p:nvGrpSpPr>
        <p:grpSpPr>
          <a:xfrm>
            <a:off x="7890376" y="4307626"/>
            <a:ext cx="2736219" cy="27362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a:ln w="142875" cap="sq">
              <a:solidFill>
                <a:srgbClr val="FFFFFF"/>
              </a:solidFill>
              <a:prstDash val="solid"/>
              <a:miter/>
            </a:ln>
          </p:spPr>
        </p:sp>
      </p:grpSp>
      <p:grpSp>
        <p:nvGrpSpPr>
          <p:cNvPr id="7" name="Group 7"/>
          <p:cNvGrpSpPr/>
          <p:nvPr/>
        </p:nvGrpSpPr>
        <p:grpSpPr>
          <a:xfrm>
            <a:off x="4177839" y="4307626"/>
            <a:ext cx="2736219" cy="273621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3709"/>
              </a:stretch>
            </a:blipFill>
            <a:ln w="142875" cap="sq">
              <a:solidFill>
                <a:srgbClr val="FFFFFF"/>
              </a:solidFill>
              <a:prstDash val="solid"/>
              <a:miter/>
            </a:ln>
          </p:spPr>
        </p:sp>
      </p:grpSp>
      <p:grpSp>
        <p:nvGrpSpPr>
          <p:cNvPr id="9" name="Group 9"/>
          <p:cNvGrpSpPr/>
          <p:nvPr/>
        </p:nvGrpSpPr>
        <p:grpSpPr>
          <a:xfrm>
            <a:off x="11607670" y="4307626"/>
            <a:ext cx="2736219" cy="273621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3125" r="-3125"/>
              </a:stretch>
            </a:blipFill>
            <a:ln w="142875" cap="sq">
              <a:solidFill>
                <a:srgbClr val="FFFFFF"/>
              </a:solidFill>
              <a:prstDash val="solid"/>
              <a:miter/>
            </a:ln>
          </p:spPr>
        </p:sp>
      </p:grpSp>
      <p:grpSp>
        <p:nvGrpSpPr>
          <p:cNvPr id="11" name="Group 11"/>
          <p:cNvGrpSpPr/>
          <p:nvPr/>
        </p:nvGrpSpPr>
        <p:grpSpPr>
          <a:xfrm>
            <a:off x="15163038" y="4307626"/>
            <a:ext cx="2736219" cy="273621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9482"/>
              </a:stretch>
            </a:blipFill>
            <a:ln w="142875" cap="sq">
              <a:solidFill>
                <a:srgbClr val="FFFFFF"/>
              </a:solidFill>
              <a:prstDash val="solid"/>
              <a:miter/>
            </a:ln>
          </p:spPr>
        </p:sp>
      </p:grpSp>
      <p:sp>
        <p:nvSpPr>
          <p:cNvPr id="13" name="TextBox 13"/>
          <p:cNvSpPr txBox="1"/>
          <p:nvPr/>
        </p:nvSpPr>
        <p:spPr>
          <a:xfrm>
            <a:off x="6231101" y="2667521"/>
            <a:ext cx="5825797" cy="973455"/>
          </a:xfrm>
          <a:prstGeom prst="rect">
            <a:avLst/>
          </a:prstGeom>
        </p:spPr>
        <p:txBody>
          <a:bodyPr lIns="0" tIns="0" rIns="0" bIns="0" rtlCol="0" anchor="t">
            <a:spAutoFit/>
          </a:bodyPr>
          <a:lstStyle/>
          <a:p>
            <a:pPr algn="ctr">
              <a:lnSpc>
                <a:spcPts val="7200"/>
              </a:lnSpc>
            </a:pPr>
            <a:r>
              <a:rPr lang="en-US" sz="7200" b="1" spc="-266">
                <a:solidFill>
                  <a:srgbClr val="FFFFFF"/>
                </a:solidFill>
                <a:latin typeface="Aileron Bold"/>
                <a:ea typeface="Aileron Bold"/>
                <a:cs typeface="Aileron Bold"/>
                <a:sym typeface="Aileron Bold"/>
              </a:rPr>
              <a:t>Our Team</a:t>
            </a:r>
          </a:p>
        </p:txBody>
      </p:sp>
      <p:sp>
        <p:nvSpPr>
          <p:cNvPr id="14" name="TextBox 14"/>
          <p:cNvSpPr txBox="1"/>
          <p:nvPr/>
        </p:nvSpPr>
        <p:spPr>
          <a:xfrm>
            <a:off x="114107" y="7692272"/>
            <a:ext cx="375218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rimo"/>
                <a:ea typeface="Arimo"/>
                <a:cs typeface="Arimo"/>
                <a:sym typeface="Arimo"/>
              </a:rPr>
              <a:t>Frontend Developer</a:t>
            </a:r>
          </a:p>
        </p:txBody>
      </p:sp>
      <p:sp>
        <p:nvSpPr>
          <p:cNvPr id="15" name="TextBox 15"/>
          <p:cNvSpPr txBox="1"/>
          <p:nvPr/>
        </p:nvSpPr>
        <p:spPr>
          <a:xfrm>
            <a:off x="7469623" y="7692272"/>
            <a:ext cx="375218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rimo"/>
                <a:ea typeface="Arimo"/>
                <a:cs typeface="Arimo"/>
                <a:sym typeface="Arimo"/>
              </a:rPr>
              <a:t>Backend Developer</a:t>
            </a:r>
          </a:p>
        </p:txBody>
      </p:sp>
      <p:sp>
        <p:nvSpPr>
          <p:cNvPr id="16" name="TextBox 16"/>
          <p:cNvSpPr txBox="1"/>
          <p:nvPr/>
        </p:nvSpPr>
        <p:spPr>
          <a:xfrm>
            <a:off x="3866293" y="7196336"/>
            <a:ext cx="3752186" cy="431800"/>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Mridul Nohria</a:t>
            </a:r>
          </a:p>
        </p:txBody>
      </p:sp>
      <p:sp>
        <p:nvSpPr>
          <p:cNvPr id="17" name="TextBox 17"/>
          <p:cNvSpPr txBox="1"/>
          <p:nvPr/>
        </p:nvSpPr>
        <p:spPr>
          <a:xfrm>
            <a:off x="11221809" y="7196336"/>
            <a:ext cx="3752186" cy="431800"/>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Rhythm Trivedi</a:t>
            </a:r>
          </a:p>
        </p:txBody>
      </p:sp>
      <p:sp>
        <p:nvSpPr>
          <p:cNvPr id="18" name="TextBox 18"/>
          <p:cNvSpPr txBox="1"/>
          <p:nvPr/>
        </p:nvSpPr>
        <p:spPr>
          <a:xfrm>
            <a:off x="3866293" y="7730945"/>
            <a:ext cx="3752186" cy="701675"/>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rimo"/>
                <a:ea typeface="Arimo"/>
                <a:cs typeface="Arimo"/>
                <a:sym typeface="Arimo"/>
              </a:rPr>
              <a:t>Integration Lead / DevOps / QA Lead</a:t>
            </a:r>
          </a:p>
        </p:txBody>
      </p:sp>
      <p:sp>
        <p:nvSpPr>
          <p:cNvPr id="19" name="TextBox 19"/>
          <p:cNvSpPr txBox="1"/>
          <p:nvPr/>
        </p:nvSpPr>
        <p:spPr>
          <a:xfrm>
            <a:off x="11221809" y="7730945"/>
            <a:ext cx="375218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rimo"/>
                <a:ea typeface="Arimo"/>
                <a:cs typeface="Arimo"/>
                <a:sym typeface="Arimo"/>
              </a:rPr>
              <a:t>Frontend Developer</a:t>
            </a:r>
          </a:p>
        </p:txBody>
      </p:sp>
      <p:sp>
        <p:nvSpPr>
          <p:cNvPr id="20" name="TextBox 20"/>
          <p:cNvSpPr txBox="1"/>
          <p:nvPr/>
        </p:nvSpPr>
        <p:spPr>
          <a:xfrm>
            <a:off x="14519254" y="7692272"/>
            <a:ext cx="3752186" cy="349250"/>
          </a:xfrm>
          <a:prstGeom prst="rect">
            <a:avLst/>
          </a:prstGeom>
        </p:spPr>
        <p:txBody>
          <a:bodyPr lIns="0" tIns="0" rIns="0" bIns="0" rtlCol="0" anchor="t">
            <a:spAutoFit/>
          </a:bodyPr>
          <a:lstStyle/>
          <a:p>
            <a:pPr algn="ctr">
              <a:lnSpc>
                <a:spcPts val="2800"/>
              </a:lnSpc>
              <a:spcBef>
                <a:spcPct val="0"/>
              </a:spcBef>
            </a:pPr>
            <a:r>
              <a:rPr lang="en-US" sz="2000">
                <a:solidFill>
                  <a:srgbClr val="FFFFFF"/>
                </a:solidFill>
                <a:latin typeface="Arimo"/>
                <a:ea typeface="Arimo"/>
                <a:cs typeface="Arimo"/>
                <a:sym typeface="Arimo"/>
              </a:rPr>
              <a:t>Backend Developer</a:t>
            </a:r>
          </a:p>
        </p:txBody>
      </p:sp>
      <p:sp>
        <p:nvSpPr>
          <p:cNvPr id="21" name="TextBox 21"/>
          <p:cNvSpPr txBox="1"/>
          <p:nvPr/>
        </p:nvSpPr>
        <p:spPr>
          <a:xfrm>
            <a:off x="114107" y="7196336"/>
            <a:ext cx="3752186" cy="431800"/>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Jessica goel</a:t>
            </a:r>
          </a:p>
        </p:txBody>
      </p:sp>
      <p:sp>
        <p:nvSpPr>
          <p:cNvPr id="22" name="TextBox 22"/>
          <p:cNvSpPr txBox="1"/>
          <p:nvPr/>
        </p:nvSpPr>
        <p:spPr>
          <a:xfrm>
            <a:off x="14655055" y="7196336"/>
            <a:ext cx="3752186" cy="431800"/>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Bao Tran</a:t>
            </a:r>
          </a:p>
        </p:txBody>
      </p:sp>
      <p:sp>
        <p:nvSpPr>
          <p:cNvPr id="23" name="TextBox 23"/>
          <p:cNvSpPr txBox="1"/>
          <p:nvPr/>
        </p:nvSpPr>
        <p:spPr>
          <a:xfrm>
            <a:off x="7382392" y="7196336"/>
            <a:ext cx="3752186" cy="431800"/>
          </a:xfrm>
          <a:prstGeom prst="rect">
            <a:avLst/>
          </a:prstGeom>
        </p:spPr>
        <p:txBody>
          <a:bodyPr lIns="0" tIns="0" rIns="0" bIns="0" rtlCol="0" anchor="t">
            <a:spAutoFit/>
          </a:bodyPr>
          <a:lstStyle/>
          <a:p>
            <a:pPr algn="ctr">
              <a:lnSpc>
                <a:spcPts val="3499"/>
              </a:lnSpc>
              <a:spcBef>
                <a:spcPct val="0"/>
              </a:spcBef>
            </a:pPr>
            <a:r>
              <a:rPr lang="en-US" sz="2499" b="1">
                <a:solidFill>
                  <a:srgbClr val="FFFFFF"/>
                </a:solidFill>
                <a:latin typeface="Arimo Bold"/>
                <a:ea typeface="Arimo Bold"/>
                <a:cs typeface="Arimo Bold"/>
                <a:sym typeface="Arimo Bold"/>
              </a:rPr>
              <a:t>Yerdana Maulenbay</a:t>
            </a:r>
          </a:p>
        </p:txBody>
      </p:sp>
      <p:sp>
        <p:nvSpPr>
          <p:cNvPr id="28" name="TextBox 27">
            <a:extLst>
              <a:ext uri="{FF2B5EF4-FFF2-40B4-BE49-F238E27FC236}">
                <a16:creationId xmlns:a16="http://schemas.microsoft.com/office/drawing/2014/main" id="{A80DCC9B-477B-C0F6-9D0C-0633B94E66F6}"/>
              </a:ext>
            </a:extLst>
          </p:cNvPr>
          <p:cNvSpPr txBox="1"/>
          <p:nvPr/>
        </p:nvSpPr>
        <p:spPr>
          <a:xfrm>
            <a:off x="4602480" y="4966454"/>
            <a:ext cx="9204960" cy="369332"/>
          </a:xfrm>
          <a:prstGeom prst="rect">
            <a:avLst/>
          </a:prstGeom>
          <a:noFill/>
        </p:spPr>
        <p:txBody>
          <a:bodyPr wrap="square">
            <a:spAutoFit/>
          </a:bodyPr>
          <a:lstStyle/>
          <a:p>
            <a:r>
              <a:rPr lang="en-US" dirty="0"/>
              <a:t>1</a:t>
            </a:r>
          </a:p>
        </p:txBody>
      </p:sp>
      <p:sp>
        <p:nvSpPr>
          <p:cNvPr id="30" name="TextBox 29">
            <a:extLst>
              <a:ext uri="{FF2B5EF4-FFF2-40B4-BE49-F238E27FC236}">
                <a16:creationId xmlns:a16="http://schemas.microsoft.com/office/drawing/2014/main" id="{C4A421CC-3A87-14F5-C8F9-D5EBF9947EAD}"/>
              </a:ext>
            </a:extLst>
          </p:cNvPr>
          <p:cNvSpPr txBox="1"/>
          <p:nvPr/>
        </p:nvSpPr>
        <p:spPr>
          <a:xfrm>
            <a:off x="17221200" y="9563100"/>
            <a:ext cx="9204960" cy="369332"/>
          </a:xfrm>
          <a:prstGeom prst="rect">
            <a:avLst/>
          </a:prstGeom>
          <a:noFill/>
        </p:spPr>
        <p:txBody>
          <a:bodyPr wrap="square">
            <a:spAutoFit/>
          </a:bodyPr>
          <a:lstStyle/>
          <a:p>
            <a:r>
              <a:rPr lang="en-US" dirty="0">
                <a:solidFill>
                  <a:schemeClr val="bg1">
                    <a:lumMod val="95000"/>
                  </a:schemeClr>
                </a:solidFill>
              </a:rPr>
              <a:t>2</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3" name="Freeform 3"/>
          <p:cNvSpPr/>
          <p:nvPr/>
        </p:nvSpPr>
        <p:spPr>
          <a:xfrm>
            <a:off x="366282" y="2281932"/>
            <a:ext cx="7842117" cy="4341963"/>
          </a:xfrm>
          <a:custGeom>
            <a:avLst/>
            <a:gdLst/>
            <a:ahLst/>
            <a:cxnLst/>
            <a:rect l="l" t="t" r="r" b="b"/>
            <a:pathLst>
              <a:path w="7842117" h="4341963">
                <a:moveTo>
                  <a:pt x="0" y="0"/>
                </a:moveTo>
                <a:lnTo>
                  <a:pt x="7842117" y="0"/>
                </a:lnTo>
                <a:lnTo>
                  <a:pt x="7842117" y="4341963"/>
                </a:lnTo>
                <a:lnTo>
                  <a:pt x="0" y="4341963"/>
                </a:lnTo>
                <a:lnTo>
                  <a:pt x="0" y="0"/>
                </a:lnTo>
                <a:close/>
              </a:path>
            </a:pathLst>
          </a:custGeom>
          <a:blipFill>
            <a:blip r:embed="rId4"/>
            <a:stretch>
              <a:fillRect l="-44050" t="-54986" r="-12125" b="-21309"/>
            </a:stretch>
          </a:blipFill>
        </p:spPr>
      </p:sp>
      <p:sp>
        <p:nvSpPr>
          <p:cNvPr id="4" name="Freeform 4"/>
          <p:cNvSpPr/>
          <p:nvPr/>
        </p:nvSpPr>
        <p:spPr>
          <a:xfrm>
            <a:off x="10314022" y="2056844"/>
            <a:ext cx="7255195" cy="4982963"/>
          </a:xfrm>
          <a:custGeom>
            <a:avLst/>
            <a:gdLst/>
            <a:ahLst/>
            <a:cxnLst/>
            <a:rect l="l" t="t" r="r" b="b"/>
            <a:pathLst>
              <a:path w="7255195" h="4982963">
                <a:moveTo>
                  <a:pt x="0" y="0"/>
                </a:moveTo>
                <a:lnTo>
                  <a:pt x="7255195" y="0"/>
                </a:lnTo>
                <a:lnTo>
                  <a:pt x="7255195" y="4982964"/>
                </a:lnTo>
                <a:lnTo>
                  <a:pt x="0" y="4982964"/>
                </a:lnTo>
                <a:lnTo>
                  <a:pt x="0" y="0"/>
                </a:lnTo>
                <a:close/>
              </a:path>
            </a:pathLst>
          </a:custGeom>
          <a:blipFill>
            <a:blip r:embed="rId5"/>
            <a:stretch>
              <a:fillRect l="-43115" t="-32309" r="-8770" b="-5906"/>
            </a:stretch>
          </a:blipFill>
        </p:spPr>
      </p:sp>
      <p:sp>
        <p:nvSpPr>
          <p:cNvPr id="5" name="TextBox 5"/>
          <p:cNvSpPr txBox="1"/>
          <p:nvPr/>
        </p:nvSpPr>
        <p:spPr>
          <a:xfrm>
            <a:off x="5806334" y="341381"/>
            <a:ext cx="7935292" cy="973455"/>
          </a:xfrm>
          <a:prstGeom prst="rect">
            <a:avLst/>
          </a:prstGeom>
        </p:spPr>
        <p:txBody>
          <a:bodyPr lIns="0" tIns="0" rIns="0" bIns="0" rtlCol="0" anchor="t">
            <a:spAutoFit/>
          </a:bodyPr>
          <a:lstStyle/>
          <a:p>
            <a:pPr algn="l">
              <a:lnSpc>
                <a:spcPts val="7200"/>
              </a:lnSpc>
            </a:pPr>
            <a:r>
              <a:rPr lang="en-US" sz="7200" b="1" spc="-266">
                <a:solidFill>
                  <a:srgbClr val="FFFFFF"/>
                </a:solidFill>
                <a:latin typeface="Aileron Bold"/>
                <a:ea typeface="Aileron Bold"/>
                <a:cs typeface="Aileron Bold"/>
                <a:sym typeface="Aileron Bold"/>
              </a:rPr>
              <a:t>CHANGES MADE</a:t>
            </a:r>
          </a:p>
        </p:txBody>
      </p:sp>
      <p:sp>
        <p:nvSpPr>
          <p:cNvPr id="6" name="TextBox 6"/>
          <p:cNvSpPr txBox="1"/>
          <p:nvPr/>
        </p:nvSpPr>
        <p:spPr>
          <a:xfrm>
            <a:off x="1028700" y="1564382"/>
            <a:ext cx="5789690" cy="422275"/>
          </a:xfrm>
          <a:prstGeom prst="rect">
            <a:avLst/>
          </a:prstGeom>
        </p:spPr>
        <p:txBody>
          <a:bodyPr lIns="0" tIns="0" rIns="0" bIns="0" rtlCol="0" anchor="t">
            <a:spAutoFit/>
          </a:bodyPr>
          <a:lstStyle/>
          <a:p>
            <a:pPr algn="l">
              <a:lnSpc>
                <a:spcPts val="3499"/>
              </a:lnSpc>
              <a:spcBef>
                <a:spcPct val="0"/>
              </a:spcBef>
            </a:pPr>
            <a:r>
              <a:rPr lang="en-US" sz="2499" b="1">
                <a:solidFill>
                  <a:srgbClr val="FFFFFF"/>
                </a:solidFill>
                <a:latin typeface="Aileron Bold"/>
                <a:ea typeface="Aileron Bold"/>
                <a:cs typeface="Aileron Bold"/>
                <a:sym typeface="Aileron Bold"/>
              </a:rPr>
              <a:t>OLD SYSTEM ARCHITECTURE</a:t>
            </a:r>
          </a:p>
        </p:txBody>
      </p:sp>
      <p:sp>
        <p:nvSpPr>
          <p:cNvPr id="7" name="TextBox 7"/>
          <p:cNvSpPr txBox="1"/>
          <p:nvPr/>
        </p:nvSpPr>
        <p:spPr>
          <a:xfrm>
            <a:off x="11916851" y="1564382"/>
            <a:ext cx="5789690" cy="422275"/>
          </a:xfrm>
          <a:prstGeom prst="rect">
            <a:avLst/>
          </a:prstGeom>
        </p:spPr>
        <p:txBody>
          <a:bodyPr lIns="0" tIns="0" rIns="0" bIns="0" rtlCol="0" anchor="t">
            <a:spAutoFit/>
          </a:bodyPr>
          <a:lstStyle/>
          <a:p>
            <a:pPr algn="l">
              <a:lnSpc>
                <a:spcPts val="3499"/>
              </a:lnSpc>
              <a:spcBef>
                <a:spcPct val="0"/>
              </a:spcBef>
            </a:pPr>
            <a:r>
              <a:rPr lang="en-US" sz="2499" b="1">
                <a:solidFill>
                  <a:srgbClr val="FFFFFF"/>
                </a:solidFill>
                <a:latin typeface="Aileron Bold"/>
                <a:ea typeface="Aileron Bold"/>
                <a:cs typeface="Aileron Bold"/>
                <a:sym typeface="Aileron Bold"/>
              </a:rPr>
              <a:t>NEW SYSTEM ARCHITECTURE</a:t>
            </a:r>
          </a:p>
        </p:txBody>
      </p:sp>
      <p:sp>
        <p:nvSpPr>
          <p:cNvPr id="8" name="TextBox 8"/>
          <p:cNvSpPr txBox="1"/>
          <p:nvPr/>
        </p:nvSpPr>
        <p:spPr>
          <a:xfrm>
            <a:off x="366282" y="6871545"/>
            <a:ext cx="5789690" cy="2816225"/>
          </a:xfrm>
          <a:prstGeom prst="rect">
            <a:avLst/>
          </a:prstGeom>
        </p:spPr>
        <p:txBody>
          <a:bodyPr lIns="0" tIns="0" rIns="0" bIns="0" rtlCol="0" anchor="t">
            <a:spAutoFit/>
          </a:bodyPr>
          <a:lstStyle/>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Single local Ollama model for AI processing.</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AI requests routed directly through the MCP server.</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Monolithic backend with fewer separated services.</a:t>
            </a:r>
          </a:p>
          <a:p>
            <a:pPr marL="431802" lvl="1" indent="-215901" algn="l">
              <a:lnSpc>
                <a:spcPts val="2800"/>
              </a:lnSpc>
              <a:spcBef>
                <a:spcPct val="0"/>
              </a:spcBef>
              <a:buFont typeface="Arial"/>
              <a:buChar char="•"/>
            </a:pPr>
            <a:r>
              <a:rPr lang="en-US" sz="2000" b="1">
                <a:solidFill>
                  <a:srgbClr val="FFFFFF"/>
                </a:solidFill>
                <a:latin typeface="Aileron Bold"/>
                <a:ea typeface="Aileron Bold"/>
                <a:cs typeface="Aileron Bold"/>
                <a:sym typeface="Aileron Bold"/>
              </a:rPr>
              <a:t>Basic database structure for authentication and Canvas data.</a:t>
            </a:r>
          </a:p>
          <a:p>
            <a:pPr algn="l">
              <a:lnSpc>
                <a:spcPts val="2800"/>
              </a:lnSpc>
              <a:spcBef>
                <a:spcPct val="0"/>
              </a:spcBef>
            </a:pPr>
            <a:endParaRPr lang="en-US" sz="2000" b="1">
              <a:solidFill>
                <a:srgbClr val="FFFFFF"/>
              </a:solidFill>
              <a:latin typeface="Aileron Bold"/>
              <a:ea typeface="Aileron Bold"/>
              <a:cs typeface="Aileron Bold"/>
              <a:sym typeface="Aileron Bold"/>
            </a:endParaRPr>
          </a:p>
        </p:txBody>
      </p:sp>
      <p:sp>
        <p:nvSpPr>
          <p:cNvPr id="9" name="TextBox 9"/>
          <p:cNvSpPr txBox="1"/>
          <p:nvPr/>
        </p:nvSpPr>
        <p:spPr>
          <a:xfrm>
            <a:off x="10544361" y="7068383"/>
            <a:ext cx="7462246" cy="3229109"/>
          </a:xfrm>
          <a:prstGeom prst="rect">
            <a:avLst/>
          </a:prstGeom>
        </p:spPr>
        <p:txBody>
          <a:bodyPr lIns="0" tIns="0" rIns="0" bIns="0" rtlCol="0" anchor="t">
            <a:spAutoFit/>
          </a:bodyPr>
          <a:lstStyle/>
          <a:p>
            <a:pPr marL="403674" lvl="1" indent="-201837" algn="l">
              <a:lnSpc>
                <a:spcPts val="2617"/>
              </a:lnSpc>
              <a:buFont typeface="Arial"/>
              <a:buChar char="•"/>
            </a:pPr>
            <a:r>
              <a:rPr lang="en-US" sz="1869" b="1">
                <a:solidFill>
                  <a:srgbClr val="FFFFFF"/>
                </a:solidFill>
                <a:latin typeface="Aileron Bold"/>
                <a:ea typeface="Aileron Bold"/>
                <a:cs typeface="Aileron Bold"/>
                <a:sym typeface="Aileron Bold"/>
              </a:rPr>
              <a:t>Added a provider-independent LLM Adapter Layer supporting both local and cloud-hosted models.</a:t>
            </a:r>
          </a:p>
          <a:p>
            <a:pPr marL="403674" lvl="1" indent="-201837" algn="l">
              <a:lnSpc>
                <a:spcPts val="2617"/>
              </a:lnSpc>
              <a:buFont typeface="Arial"/>
              <a:buChar char="•"/>
            </a:pPr>
            <a:r>
              <a:rPr lang="en-US" sz="1869" b="1">
                <a:solidFill>
                  <a:srgbClr val="FFFFFF"/>
                </a:solidFill>
                <a:latin typeface="Aileron Bold"/>
                <a:ea typeface="Aileron Bold"/>
                <a:cs typeface="Aileron Bold"/>
                <a:sym typeface="Aileron Bold"/>
              </a:rPr>
              <a:t>Refactored the backend into modular routers (Authentication, Canvas, Chat, Preview, Messages, Admin).</a:t>
            </a:r>
          </a:p>
          <a:p>
            <a:pPr marL="403674" lvl="1" indent="-201837" algn="l">
              <a:lnSpc>
                <a:spcPts val="2617"/>
              </a:lnSpc>
              <a:buFont typeface="Arial"/>
              <a:buChar char="•"/>
            </a:pPr>
            <a:r>
              <a:rPr lang="en-US" sz="1869" b="1">
                <a:solidFill>
                  <a:srgbClr val="FFFFFF"/>
                </a:solidFill>
                <a:latin typeface="Aileron Bold"/>
                <a:ea typeface="Aileron Bold"/>
                <a:cs typeface="Aileron Bold"/>
                <a:sym typeface="Aileron Bold"/>
              </a:rPr>
              <a:t>Introduced a workflow engine with validation before Canvas actions.</a:t>
            </a:r>
          </a:p>
          <a:p>
            <a:pPr marL="403674" lvl="1" indent="-201837" algn="l">
              <a:lnSpc>
                <a:spcPts val="2617"/>
              </a:lnSpc>
              <a:buFont typeface="Arial"/>
              <a:buChar char="•"/>
            </a:pPr>
            <a:r>
              <a:rPr lang="en-US" sz="1869" b="1">
                <a:solidFill>
                  <a:srgbClr val="FFFFFF"/>
                </a:solidFill>
                <a:latin typeface="Aileron Bold"/>
                <a:ea typeface="Aileron Bold"/>
                <a:cs typeface="Aileron Bold"/>
                <a:sym typeface="Aileron Bold"/>
              </a:rPr>
              <a:t>Expanded PostgreSQL to support conversations, workflows, templates, and audit logs.</a:t>
            </a:r>
          </a:p>
          <a:p>
            <a:pPr marL="403674" lvl="1" indent="-201837" algn="l">
              <a:lnSpc>
                <a:spcPts val="2617"/>
              </a:lnSpc>
              <a:spcBef>
                <a:spcPct val="0"/>
              </a:spcBef>
              <a:buFont typeface="Arial"/>
              <a:buChar char="•"/>
            </a:pPr>
            <a:r>
              <a:rPr lang="en-US" sz="1869" b="1">
                <a:solidFill>
                  <a:srgbClr val="FFFFFF"/>
                </a:solidFill>
                <a:latin typeface="Aileron Bold"/>
                <a:ea typeface="Aileron Bold"/>
                <a:cs typeface="Aileron Bold"/>
                <a:sym typeface="Aileron Bold"/>
              </a:rPr>
              <a:t>Improved scalability, maintainability, and AI safety.</a:t>
            </a:r>
          </a:p>
          <a:p>
            <a:pPr algn="l">
              <a:lnSpc>
                <a:spcPts val="2617"/>
              </a:lnSpc>
              <a:spcBef>
                <a:spcPct val="0"/>
              </a:spcBef>
            </a:pPr>
            <a:endParaRPr lang="en-US" sz="1869" b="1">
              <a:solidFill>
                <a:srgbClr val="FFFFFF"/>
              </a:solidFill>
              <a:latin typeface="Aileron Bold"/>
              <a:ea typeface="Aileron Bold"/>
              <a:cs typeface="Aileron Bold"/>
              <a:sym typeface="Aileron Bold"/>
            </a:endParaRPr>
          </a:p>
        </p:txBody>
      </p:sp>
      <p:sp>
        <p:nvSpPr>
          <p:cNvPr id="14" name="TextBox 13">
            <a:extLst>
              <a:ext uri="{FF2B5EF4-FFF2-40B4-BE49-F238E27FC236}">
                <a16:creationId xmlns:a16="http://schemas.microsoft.com/office/drawing/2014/main" id="{79ACCF34-83BD-F6F5-28D9-7306768C11C8}"/>
              </a:ext>
            </a:extLst>
          </p:cNvPr>
          <p:cNvSpPr txBox="1"/>
          <p:nvPr/>
        </p:nvSpPr>
        <p:spPr>
          <a:xfrm>
            <a:off x="17706541" y="9738248"/>
            <a:ext cx="9144000" cy="369332"/>
          </a:xfrm>
          <a:prstGeom prst="rect">
            <a:avLst/>
          </a:prstGeom>
          <a:noFill/>
        </p:spPr>
        <p:txBody>
          <a:bodyPr wrap="square">
            <a:spAutoFit/>
          </a:bodyPr>
          <a:lstStyle/>
          <a:p>
            <a:r>
              <a:rPr lang="en-US" dirty="0">
                <a:solidFill>
                  <a:schemeClr val="bg1">
                    <a:lumMod val="95000"/>
                  </a:schemeClr>
                </a:solidFill>
              </a:rPr>
              <a:t>3</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US" dirty="0"/>
          </a:p>
        </p:txBody>
      </p:sp>
      <p:sp>
        <p:nvSpPr>
          <p:cNvPr id="3" name="TextBox 3"/>
          <p:cNvSpPr txBox="1"/>
          <p:nvPr/>
        </p:nvSpPr>
        <p:spPr>
          <a:xfrm>
            <a:off x="4639051" y="359240"/>
            <a:ext cx="9534149" cy="923330"/>
          </a:xfrm>
          <a:prstGeom prst="rect">
            <a:avLst/>
          </a:prstGeom>
        </p:spPr>
        <p:txBody>
          <a:bodyPr wrap="square" lIns="0" tIns="0" rIns="0" bIns="0" rtlCol="0" anchor="t">
            <a:spAutoFit/>
          </a:bodyPr>
          <a:lstStyle/>
          <a:p>
            <a:pPr marL="0" lvl="0" indent="0" algn="l">
              <a:lnSpc>
                <a:spcPts val="7200"/>
              </a:lnSpc>
              <a:spcBef>
                <a:spcPct val="0"/>
              </a:spcBef>
            </a:pPr>
            <a:r>
              <a:rPr lang="en-US" sz="7200" b="1" u="none" strike="noStrike" spc="-266" dirty="0">
                <a:solidFill>
                  <a:srgbClr val="FFFFFF"/>
                </a:solidFill>
                <a:latin typeface="Aileron Bold"/>
                <a:ea typeface="Aileron Bold"/>
                <a:cs typeface="Aileron Bold"/>
                <a:sym typeface="Aileron Bold"/>
              </a:rPr>
              <a:t>WHY WE CHANGED IT</a:t>
            </a:r>
          </a:p>
        </p:txBody>
      </p:sp>
      <p:sp>
        <p:nvSpPr>
          <p:cNvPr id="4" name="TextBox 4"/>
          <p:cNvSpPr txBox="1"/>
          <p:nvPr/>
        </p:nvSpPr>
        <p:spPr>
          <a:xfrm>
            <a:off x="564638" y="1733454"/>
            <a:ext cx="16529447" cy="3213172"/>
          </a:xfrm>
          <a:prstGeom prst="rect">
            <a:avLst/>
          </a:prstGeom>
        </p:spPr>
        <p:txBody>
          <a:bodyPr lIns="0" tIns="0" rIns="0" bIns="0" rtlCol="0" anchor="t">
            <a:spAutoFit/>
          </a:bodyPr>
          <a:lstStyle/>
          <a:p>
            <a:pPr marL="737248" lvl="1" indent="-368624" algn="l">
              <a:lnSpc>
                <a:spcPts val="5122"/>
              </a:lnSpc>
              <a:buFont typeface="Arial"/>
              <a:buChar char="•"/>
            </a:pPr>
            <a:r>
              <a:rPr lang="en-US" sz="3414" b="1" dirty="0">
                <a:solidFill>
                  <a:srgbClr val="FFFFFF"/>
                </a:solidFill>
                <a:latin typeface="Aileron Bold"/>
                <a:ea typeface="Aileron Bold"/>
                <a:cs typeface="Aileron Bold"/>
                <a:sym typeface="Aileron Bold"/>
              </a:rPr>
              <a:t>Support multiple LLM providers instead of relying only on local models.</a:t>
            </a:r>
          </a:p>
          <a:p>
            <a:pPr marL="737248" lvl="1" indent="-368624" algn="l">
              <a:lnSpc>
                <a:spcPts val="5122"/>
              </a:lnSpc>
              <a:buFont typeface="Arial"/>
              <a:buChar char="•"/>
            </a:pPr>
            <a:r>
              <a:rPr lang="en-US" sz="3414" b="1" dirty="0">
                <a:solidFill>
                  <a:srgbClr val="FFFFFF"/>
                </a:solidFill>
                <a:latin typeface="Aileron Bold"/>
                <a:ea typeface="Aileron Bold"/>
                <a:cs typeface="Aileron Bold"/>
                <a:sym typeface="Aileron Bold"/>
              </a:rPr>
              <a:t>Reduce hardware requirements by allowing cloud-hosted models.</a:t>
            </a:r>
          </a:p>
          <a:p>
            <a:pPr marL="737248" lvl="1" indent="-368624" algn="l">
              <a:lnSpc>
                <a:spcPts val="5122"/>
              </a:lnSpc>
              <a:buFont typeface="Arial"/>
              <a:buChar char="•"/>
            </a:pPr>
            <a:r>
              <a:rPr lang="en-US" sz="3414" b="1" dirty="0">
                <a:solidFill>
                  <a:srgbClr val="FFFFFF"/>
                </a:solidFill>
                <a:latin typeface="Aileron Bold"/>
                <a:ea typeface="Aileron Bold"/>
                <a:cs typeface="Aileron Bold"/>
                <a:sym typeface="Aileron Bold"/>
              </a:rPr>
              <a:t>Make the system easier to extend and maintain.</a:t>
            </a:r>
          </a:p>
          <a:p>
            <a:pPr marL="737248" lvl="1" indent="-368624" algn="l">
              <a:lnSpc>
                <a:spcPts val="5122"/>
              </a:lnSpc>
              <a:buFont typeface="Arial"/>
              <a:buChar char="•"/>
            </a:pPr>
            <a:r>
              <a:rPr lang="en-US" sz="3414" b="1" dirty="0">
                <a:solidFill>
                  <a:srgbClr val="FFFFFF"/>
                </a:solidFill>
                <a:latin typeface="Aileron Bold"/>
                <a:ea typeface="Aileron Bold"/>
                <a:cs typeface="Aileron Bold"/>
                <a:sym typeface="Aileron Bold"/>
              </a:rPr>
              <a:t>Improve security and validation before executing Canvas operations.</a:t>
            </a:r>
          </a:p>
          <a:p>
            <a:pPr marL="737248" lvl="1" indent="-368624" algn="l">
              <a:lnSpc>
                <a:spcPts val="5122"/>
              </a:lnSpc>
              <a:buFont typeface="Arial"/>
              <a:buChar char="•"/>
            </a:pPr>
            <a:r>
              <a:rPr lang="en-US" sz="3414" b="1" dirty="0">
                <a:solidFill>
                  <a:srgbClr val="FFFFFF"/>
                </a:solidFill>
                <a:latin typeface="Aileron Bold"/>
                <a:ea typeface="Aileron Bold"/>
                <a:cs typeface="Aileron Bold"/>
                <a:sym typeface="Aileron Bold"/>
              </a:rPr>
              <a:t>Better align the architecture with project requirements and future milestones.</a:t>
            </a:r>
          </a:p>
        </p:txBody>
      </p:sp>
      <p:sp>
        <p:nvSpPr>
          <p:cNvPr id="5" name="TextBox 5"/>
          <p:cNvSpPr txBox="1"/>
          <p:nvPr/>
        </p:nvSpPr>
        <p:spPr>
          <a:xfrm>
            <a:off x="1016203" y="6641602"/>
            <a:ext cx="16230600" cy="1123950"/>
          </a:xfrm>
          <a:prstGeom prst="rect">
            <a:avLst/>
          </a:prstGeom>
        </p:spPr>
        <p:txBody>
          <a:bodyPr lIns="0" tIns="0" rIns="0" bIns="0" rtlCol="0" anchor="t">
            <a:spAutoFit/>
          </a:bodyPr>
          <a:lstStyle/>
          <a:p>
            <a:pPr algn="ctr">
              <a:lnSpc>
                <a:spcPts val="4500"/>
              </a:lnSpc>
              <a:spcBef>
                <a:spcPct val="0"/>
              </a:spcBef>
            </a:pPr>
            <a:r>
              <a:rPr lang="en-US" sz="3000" b="1">
                <a:solidFill>
                  <a:srgbClr val="FFFFFF"/>
                </a:solidFill>
                <a:latin typeface="Aileron Bold"/>
                <a:ea typeface="Aileron Bold"/>
                <a:cs typeface="Aileron Bold"/>
                <a:sym typeface="Aileron Bold"/>
              </a:rPr>
              <a:t>Impact: The new architecture is more scalable, supports multiple AI providers, improves security, and simplifies future feature development.</a:t>
            </a:r>
          </a:p>
        </p:txBody>
      </p:sp>
      <p:sp>
        <p:nvSpPr>
          <p:cNvPr id="9" name="TextBox 8">
            <a:extLst>
              <a:ext uri="{FF2B5EF4-FFF2-40B4-BE49-F238E27FC236}">
                <a16:creationId xmlns:a16="http://schemas.microsoft.com/office/drawing/2014/main" id="{DA6FF8B4-3043-82EE-ABE6-E88489F0C9EF}"/>
              </a:ext>
            </a:extLst>
          </p:cNvPr>
          <p:cNvSpPr txBox="1"/>
          <p:nvPr/>
        </p:nvSpPr>
        <p:spPr>
          <a:xfrm>
            <a:off x="17754600" y="9791700"/>
            <a:ext cx="533400" cy="369332"/>
          </a:xfrm>
          <a:prstGeom prst="rect">
            <a:avLst/>
          </a:prstGeom>
          <a:noFill/>
        </p:spPr>
        <p:txBody>
          <a:bodyPr wrap="square" rtlCol="0">
            <a:spAutoFit/>
          </a:bodyPr>
          <a:lstStyle/>
          <a:p>
            <a:r>
              <a:rPr lang="en-US" dirty="0">
                <a:solidFill>
                  <a:schemeClr val="bg1">
                    <a:lumMod val="95000"/>
                  </a:schemeClr>
                </a:solidFil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3" name="Freeform 3"/>
          <p:cNvSpPr/>
          <p:nvPr/>
        </p:nvSpPr>
        <p:spPr>
          <a:xfrm>
            <a:off x="3092188" y="2577297"/>
            <a:ext cx="10973491" cy="5334941"/>
          </a:xfrm>
          <a:custGeom>
            <a:avLst/>
            <a:gdLst/>
            <a:ahLst/>
            <a:cxnLst/>
            <a:rect l="l" t="t" r="r" b="b"/>
            <a:pathLst>
              <a:path w="10973491" h="5334941">
                <a:moveTo>
                  <a:pt x="0" y="0"/>
                </a:moveTo>
                <a:lnTo>
                  <a:pt x="10973492" y="0"/>
                </a:lnTo>
                <a:lnTo>
                  <a:pt x="10973492" y="5334941"/>
                </a:lnTo>
                <a:lnTo>
                  <a:pt x="0" y="5334941"/>
                </a:lnTo>
                <a:lnTo>
                  <a:pt x="0" y="0"/>
                </a:lnTo>
                <a:close/>
              </a:path>
            </a:pathLst>
          </a:custGeom>
          <a:blipFill>
            <a:blip r:embed="rId4"/>
            <a:stretch>
              <a:fillRect t="-265" b="-265"/>
            </a:stretch>
          </a:blipFill>
        </p:spPr>
      </p:sp>
      <p:sp>
        <p:nvSpPr>
          <p:cNvPr id="4" name="Freeform 4"/>
          <p:cNvSpPr/>
          <p:nvPr/>
        </p:nvSpPr>
        <p:spPr>
          <a:xfrm>
            <a:off x="3092188" y="7912238"/>
            <a:ext cx="10973491" cy="973897"/>
          </a:xfrm>
          <a:custGeom>
            <a:avLst/>
            <a:gdLst/>
            <a:ahLst/>
            <a:cxnLst/>
            <a:rect l="l" t="t" r="r" b="b"/>
            <a:pathLst>
              <a:path w="10973491" h="973897">
                <a:moveTo>
                  <a:pt x="0" y="0"/>
                </a:moveTo>
                <a:lnTo>
                  <a:pt x="10973492" y="0"/>
                </a:lnTo>
                <a:lnTo>
                  <a:pt x="10973492" y="973897"/>
                </a:lnTo>
                <a:lnTo>
                  <a:pt x="0" y="973897"/>
                </a:lnTo>
                <a:lnTo>
                  <a:pt x="0" y="0"/>
                </a:lnTo>
                <a:close/>
              </a:path>
            </a:pathLst>
          </a:custGeom>
          <a:blipFill>
            <a:blip r:embed="rId5"/>
            <a:stretch>
              <a:fillRect/>
            </a:stretch>
          </a:blipFill>
        </p:spPr>
      </p:sp>
      <p:sp>
        <p:nvSpPr>
          <p:cNvPr id="5" name="TextBox 5"/>
          <p:cNvSpPr txBox="1"/>
          <p:nvPr/>
        </p:nvSpPr>
        <p:spPr>
          <a:xfrm>
            <a:off x="4780023" y="380054"/>
            <a:ext cx="9285657" cy="1887855"/>
          </a:xfrm>
          <a:prstGeom prst="rect">
            <a:avLst/>
          </a:prstGeom>
        </p:spPr>
        <p:txBody>
          <a:bodyPr lIns="0" tIns="0" rIns="0" bIns="0" rtlCol="0" anchor="t">
            <a:spAutoFit/>
          </a:bodyPr>
          <a:lstStyle/>
          <a:p>
            <a:pPr algn="l">
              <a:lnSpc>
                <a:spcPts val="7200"/>
              </a:lnSpc>
            </a:pPr>
            <a:r>
              <a:rPr lang="en-US" sz="7200" b="1" spc="-266">
                <a:solidFill>
                  <a:srgbClr val="FFFFFF"/>
                </a:solidFill>
                <a:latin typeface="Aileron Bold"/>
                <a:ea typeface="Aileron Bold"/>
                <a:cs typeface="Aileron Bold"/>
                <a:sym typeface="Aileron Bold"/>
              </a:rPr>
              <a:t>COMPLETED TASKS TESTING REPORT</a:t>
            </a:r>
          </a:p>
        </p:txBody>
      </p:sp>
      <p:sp>
        <p:nvSpPr>
          <p:cNvPr id="10" name="TextBox 9">
            <a:extLst>
              <a:ext uri="{FF2B5EF4-FFF2-40B4-BE49-F238E27FC236}">
                <a16:creationId xmlns:a16="http://schemas.microsoft.com/office/drawing/2014/main" id="{9BA3EEC1-C2D5-E134-2AB2-12D60D1DCAD1}"/>
              </a:ext>
            </a:extLst>
          </p:cNvPr>
          <p:cNvSpPr txBox="1"/>
          <p:nvPr/>
        </p:nvSpPr>
        <p:spPr>
          <a:xfrm>
            <a:off x="17830800" y="9791700"/>
            <a:ext cx="9144000" cy="369332"/>
          </a:xfrm>
          <a:prstGeom prst="rect">
            <a:avLst/>
          </a:prstGeom>
          <a:noFill/>
        </p:spPr>
        <p:txBody>
          <a:bodyPr wrap="square">
            <a:spAutoFit/>
          </a:bodyPr>
          <a:lstStyle/>
          <a:p>
            <a:r>
              <a:rPr lang="en-US" dirty="0">
                <a:solidFill>
                  <a:schemeClr val="bg1">
                    <a:lumMod val="95000"/>
                  </a:schemeClr>
                </a:solidFil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US" dirty="0"/>
          </a:p>
        </p:txBody>
      </p:sp>
      <p:sp>
        <p:nvSpPr>
          <p:cNvPr id="3" name="Freeform 3"/>
          <p:cNvSpPr/>
          <p:nvPr/>
        </p:nvSpPr>
        <p:spPr>
          <a:xfrm>
            <a:off x="154694" y="3163136"/>
            <a:ext cx="10765933" cy="5092868"/>
          </a:xfrm>
          <a:custGeom>
            <a:avLst/>
            <a:gdLst/>
            <a:ahLst/>
            <a:cxnLst/>
            <a:rect l="l" t="t" r="r" b="b"/>
            <a:pathLst>
              <a:path w="10765933" h="5092868">
                <a:moveTo>
                  <a:pt x="0" y="0"/>
                </a:moveTo>
                <a:lnTo>
                  <a:pt x="10765933" y="0"/>
                </a:lnTo>
                <a:lnTo>
                  <a:pt x="10765933" y="5092869"/>
                </a:lnTo>
                <a:lnTo>
                  <a:pt x="0" y="5092869"/>
                </a:lnTo>
                <a:lnTo>
                  <a:pt x="0" y="0"/>
                </a:lnTo>
                <a:close/>
              </a:path>
            </a:pathLst>
          </a:custGeom>
          <a:blipFill>
            <a:blip r:embed="rId4"/>
            <a:stretch>
              <a:fillRect l="-39960" t="-76072" r="-4524" b="-14821"/>
            </a:stretch>
          </a:blipFill>
        </p:spPr>
      </p:sp>
      <p:sp>
        <p:nvSpPr>
          <p:cNvPr id="4" name="TextBox 4"/>
          <p:cNvSpPr txBox="1"/>
          <p:nvPr/>
        </p:nvSpPr>
        <p:spPr>
          <a:xfrm>
            <a:off x="6907061" y="603885"/>
            <a:ext cx="6056426" cy="973455"/>
          </a:xfrm>
          <a:prstGeom prst="rect">
            <a:avLst/>
          </a:prstGeom>
        </p:spPr>
        <p:txBody>
          <a:bodyPr lIns="0" tIns="0" rIns="0" bIns="0" rtlCol="0" anchor="t">
            <a:spAutoFit/>
          </a:bodyPr>
          <a:lstStyle/>
          <a:p>
            <a:pPr algn="l">
              <a:lnSpc>
                <a:spcPts val="7200"/>
              </a:lnSpc>
            </a:pPr>
            <a:r>
              <a:rPr lang="en-US" sz="7200" b="1" spc="-266">
                <a:solidFill>
                  <a:srgbClr val="FFFFFF"/>
                </a:solidFill>
                <a:latin typeface="Aileron Bold"/>
                <a:ea typeface="Aileron Bold"/>
                <a:cs typeface="Aileron Bold"/>
                <a:sym typeface="Aileron Bold"/>
              </a:rPr>
              <a:t>BURN UP</a:t>
            </a:r>
          </a:p>
        </p:txBody>
      </p:sp>
      <p:sp>
        <p:nvSpPr>
          <p:cNvPr id="5" name="TextBox 5"/>
          <p:cNvSpPr txBox="1"/>
          <p:nvPr/>
        </p:nvSpPr>
        <p:spPr>
          <a:xfrm>
            <a:off x="11215314" y="6642936"/>
            <a:ext cx="6474179" cy="2463800"/>
          </a:xfrm>
          <a:prstGeom prst="rect">
            <a:avLst/>
          </a:prstGeom>
        </p:spPr>
        <p:txBody>
          <a:bodyPr lIns="0" tIns="0" rIns="0" bIns="0" rtlCol="0" anchor="t">
            <a:spAutoFit/>
          </a:bodyPr>
          <a:lstStyle/>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Continue completing remaining milestones with more consistent progress each week.</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Increase focus on testing, bug fixing, and code quality.</a:t>
            </a:r>
          </a:p>
          <a:p>
            <a:pPr marL="431802" lvl="1" indent="-215901" algn="l">
              <a:lnSpc>
                <a:spcPts val="2800"/>
              </a:lnSpc>
              <a:spcBef>
                <a:spcPct val="0"/>
              </a:spcBef>
              <a:buFont typeface="Arial"/>
              <a:buChar char="•"/>
            </a:pPr>
            <a:r>
              <a:rPr lang="en-US" sz="2000" b="1">
                <a:solidFill>
                  <a:srgbClr val="FFFFFF"/>
                </a:solidFill>
                <a:latin typeface="Aileron Bold"/>
                <a:ea typeface="Aileron Bold"/>
                <a:cs typeface="Aileron Bold"/>
                <a:sym typeface="Aileron Bold"/>
              </a:rPr>
              <a:t>Maintain smaller, incremental issue completion to reduce end-of-milestone workload.</a:t>
            </a:r>
          </a:p>
          <a:p>
            <a:pPr algn="l">
              <a:lnSpc>
                <a:spcPts val="2800"/>
              </a:lnSpc>
              <a:spcBef>
                <a:spcPct val="0"/>
              </a:spcBef>
            </a:pPr>
            <a:endParaRPr lang="en-US" sz="2000" b="1">
              <a:solidFill>
                <a:srgbClr val="FFFFFF"/>
              </a:solidFill>
              <a:latin typeface="Aileron Bold"/>
              <a:ea typeface="Aileron Bold"/>
              <a:cs typeface="Aileron Bold"/>
              <a:sym typeface="Aileron Bold"/>
            </a:endParaRPr>
          </a:p>
        </p:txBody>
      </p:sp>
      <p:sp>
        <p:nvSpPr>
          <p:cNvPr id="6" name="TextBox 6"/>
          <p:cNvSpPr txBox="1"/>
          <p:nvPr/>
        </p:nvSpPr>
        <p:spPr>
          <a:xfrm>
            <a:off x="11215314" y="3115511"/>
            <a:ext cx="6474179" cy="3168650"/>
          </a:xfrm>
          <a:prstGeom prst="rect">
            <a:avLst/>
          </a:prstGeom>
        </p:spPr>
        <p:txBody>
          <a:bodyPr lIns="0" tIns="0" rIns="0" bIns="0" rtlCol="0" anchor="t">
            <a:spAutoFit/>
          </a:bodyPr>
          <a:lstStyle/>
          <a:p>
            <a:pPr marL="431802" lvl="1" indent="-215901" algn="l">
              <a:lnSpc>
                <a:spcPts val="2800"/>
              </a:lnSpc>
              <a:buFont typeface="Arial"/>
              <a:buChar char="•"/>
            </a:pPr>
            <a:r>
              <a:rPr lang="en-US" sz="2000" b="1" dirty="0">
                <a:solidFill>
                  <a:srgbClr val="FFFFFF"/>
                </a:solidFill>
                <a:latin typeface="Aileron Bold"/>
                <a:ea typeface="Aileron Bold"/>
                <a:cs typeface="Aileron Bold"/>
                <a:sym typeface="Aileron Bold"/>
              </a:rPr>
              <a:t>Project scope expanded significantly as detailed MVP features and sub-issues were added during planning.</a:t>
            </a:r>
          </a:p>
          <a:p>
            <a:pPr marL="431802" lvl="1" indent="-215901" algn="l">
              <a:lnSpc>
                <a:spcPts val="2800"/>
              </a:lnSpc>
              <a:buFont typeface="Arial"/>
              <a:buChar char="•"/>
            </a:pPr>
            <a:r>
              <a:rPr lang="en-US" sz="2000" b="1" dirty="0">
                <a:solidFill>
                  <a:srgbClr val="FFFFFF"/>
                </a:solidFill>
                <a:latin typeface="Aileron Bold"/>
                <a:ea typeface="Aileron Bold"/>
                <a:cs typeface="Aileron Bold"/>
                <a:sym typeface="Aileron Bold"/>
              </a:rPr>
              <a:t>Steady completion of frontend, backend, and integration features throughout the milestone.</a:t>
            </a:r>
          </a:p>
          <a:p>
            <a:pPr marL="431802" lvl="1" indent="-215901" algn="l">
              <a:lnSpc>
                <a:spcPts val="2800"/>
              </a:lnSpc>
              <a:spcBef>
                <a:spcPct val="0"/>
              </a:spcBef>
              <a:buFont typeface="Arial"/>
              <a:buChar char="•"/>
            </a:pPr>
            <a:r>
              <a:rPr lang="en-US" sz="2000" b="1" dirty="0">
                <a:solidFill>
                  <a:srgbClr val="FFFFFF"/>
                </a:solidFill>
                <a:latin typeface="Aileron Bold"/>
                <a:ea typeface="Aileron Bold"/>
                <a:cs typeface="Aileron Bold"/>
                <a:sym typeface="Aileron Bold"/>
              </a:rPr>
              <a:t>Large increase in completed work near the MVP deadline as integrated features were finalized and merged.</a:t>
            </a:r>
          </a:p>
          <a:p>
            <a:pPr algn="l">
              <a:lnSpc>
                <a:spcPts val="2800"/>
              </a:lnSpc>
              <a:spcBef>
                <a:spcPct val="0"/>
              </a:spcBef>
            </a:pPr>
            <a:endParaRPr lang="en-US" sz="2000" b="1" dirty="0">
              <a:solidFill>
                <a:srgbClr val="FFFFFF"/>
              </a:solidFill>
              <a:latin typeface="Aileron Bold"/>
              <a:ea typeface="Aileron Bold"/>
              <a:cs typeface="Aileron Bold"/>
              <a:sym typeface="Aileron Bold"/>
            </a:endParaRPr>
          </a:p>
        </p:txBody>
      </p:sp>
      <p:sp>
        <p:nvSpPr>
          <p:cNvPr id="7" name="TextBox 7"/>
          <p:cNvSpPr txBox="1"/>
          <p:nvPr/>
        </p:nvSpPr>
        <p:spPr>
          <a:xfrm>
            <a:off x="11971546" y="2525834"/>
            <a:ext cx="5717947" cy="422275"/>
          </a:xfrm>
          <a:prstGeom prst="rect">
            <a:avLst/>
          </a:prstGeom>
        </p:spPr>
        <p:txBody>
          <a:bodyPr lIns="0" tIns="0" rIns="0" bIns="0" rtlCol="0" anchor="t">
            <a:spAutoFit/>
          </a:bodyPr>
          <a:lstStyle/>
          <a:p>
            <a:pPr algn="l">
              <a:lnSpc>
                <a:spcPts val="3499"/>
              </a:lnSpc>
              <a:spcBef>
                <a:spcPct val="0"/>
              </a:spcBef>
            </a:pPr>
            <a:r>
              <a:rPr lang="en-US" sz="2499" b="1">
                <a:solidFill>
                  <a:srgbClr val="FFFFFF"/>
                </a:solidFill>
                <a:latin typeface="Aileron Bold"/>
                <a:ea typeface="Aileron Bold"/>
                <a:cs typeface="Aileron Bold"/>
                <a:sym typeface="Aileron Bold"/>
              </a:rPr>
              <a:t>Reflection (Up to Today)</a:t>
            </a:r>
          </a:p>
        </p:txBody>
      </p:sp>
      <p:sp>
        <p:nvSpPr>
          <p:cNvPr id="8" name="TextBox 8"/>
          <p:cNvSpPr txBox="1"/>
          <p:nvPr/>
        </p:nvSpPr>
        <p:spPr>
          <a:xfrm>
            <a:off x="11971546" y="6049211"/>
            <a:ext cx="5717947" cy="422275"/>
          </a:xfrm>
          <a:prstGeom prst="rect">
            <a:avLst/>
          </a:prstGeom>
        </p:spPr>
        <p:txBody>
          <a:bodyPr lIns="0" tIns="0" rIns="0" bIns="0" rtlCol="0" anchor="t">
            <a:spAutoFit/>
          </a:bodyPr>
          <a:lstStyle/>
          <a:p>
            <a:pPr algn="l">
              <a:lnSpc>
                <a:spcPts val="3499"/>
              </a:lnSpc>
              <a:spcBef>
                <a:spcPct val="0"/>
              </a:spcBef>
            </a:pPr>
            <a:r>
              <a:rPr lang="en-US" sz="2499" b="1">
                <a:solidFill>
                  <a:srgbClr val="FFFFFF"/>
                </a:solidFill>
                <a:latin typeface="Aileron Bold"/>
                <a:ea typeface="Aileron Bold"/>
                <a:cs typeface="Aileron Bold"/>
                <a:sym typeface="Aileron Bold"/>
              </a:rPr>
              <a:t>Moving Forward</a:t>
            </a:r>
          </a:p>
        </p:txBody>
      </p:sp>
      <p:sp>
        <p:nvSpPr>
          <p:cNvPr id="13" name="TextBox 12">
            <a:extLst>
              <a:ext uri="{FF2B5EF4-FFF2-40B4-BE49-F238E27FC236}">
                <a16:creationId xmlns:a16="http://schemas.microsoft.com/office/drawing/2014/main" id="{BBFDCFB8-42B2-A4DB-35F4-9D9730480A71}"/>
              </a:ext>
            </a:extLst>
          </p:cNvPr>
          <p:cNvSpPr txBox="1"/>
          <p:nvPr/>
        </p:nvSpPr>
        <p:spPr>
          <a:xfrm>
            <a:off x="17812338" y="9631918"/>
            <a:ext cx="301686" cy="369332"/>
          </a:xfrm>
          <a:prstGeom prst="rect">
            <a:avLst/>
          </a:prstGeom>
          <a:noFill/>
        </p:spPr>
        <p:txBody>
          <a:bodyPr wrap="none" rtlCol="0">
            <a:spAutoFit/>
          </a:bodyPr>
          <a:lstStyle/>
          <a:p>
            <a:r>
              <a:rPr lang="en-US" dirty="0">
                <a:solidFill>
                  <a:schemeClr val="bg1">
                    <a:lumMod val="95000"/>
                  </a:schemeClr>
                </a:solidFil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3" name="Freeform 3"/>
          <p:cNvSpPr/>
          <p:nvPr/>
        </p:nvSpPr>
        <p:spPr>
          <a:xfrm>
            <a:off x="9636550" y="7886189"/>
            <a:ext cx="8327965" cy="2213993"/>
          </a:xfrm>
          <a:custGeom>
            <a:avLst/>
            <a:gdLst/>
            <a:ahLst/>
            <a:cxnLst/>
            <a:rect l="l" t="t" r="r" b="b"/>
            <a:pathLst>
              <a:path w="8327965" h="2213993">
                <a:moveTo>
                  <a:pt x="0" y="0"/>
                </a:moveTo>
                <a:lnTo>
                  <a:pt x="8327965" y="0"/>
                </a:lnTo>
                <a:lnTo>
                  <a:pt x="8327965" y="2213993"/>
                </a:lnTo>
                <a:lnTo>
                  <a:pt x="0" y="2213993"/>
                </a:lnTo>
                <a:lnTo>
                  <a:pt x="0" y="0"/>
                </a:lnTo>
                <a:close/>
              </a:path>
            </a:pathLst>
          </a:custGeom>
          <a:blipFill>
            <a:blip r:embed="rId4"/>
            <a:stretch>
              <a:fillRect t="-125381" r="-2791" b="-16276"/>
            </a:stretch>
          </a:blipFill>
        </p:spPr>
      </p:sp>
      <p:sp>
        <p:nvSpPr>
          <p:cNvPr id="4" name="Freeform 4"/>
          <p:cNvSpPr/>
          <p:nvPr/>
        </p:nvSpPr>
        <p:spPr>
          <a:xfrm>
            <a:off x="9646420" y="3464543"/>
            <a:ext cx="8318095" cy="2125653"/>
          </a:xfrm>
          <a:custGeom>
            <a:avLst/>
            <a:gdLst/>
            <a:ahLst/>
            <a:cxnLst/>
            <a:rect l="l" t="t" r="r" b="b"/>
            <a:pathLst>
              <a:path w="8318095" h="2125653">
                <a:moveTo>
                  <a:pt x="0" y="0"/>
                </a:moveTo>
                <a:lnTo>
                  <a:pt x="8318095" y="0"/>
                </a:lnTo>
                <a:lnTo>
                  <a:pt x="8318095" y="2125653"/>
                </a:lnTo>
                <a:lnTo>
                  <a:pt x="0" y="2125653"/>
                </a:lnTo>
                <a:lnTo>
                  <a:pt x="0" y="0"/>
                </a:lnTo>
                <a:close/>
              </a:path>
            </a:pathLst>
          </a:custGeom>
          <a:blipFill>
            <a:blip r:embed="rId5"/>
            <a:stretch>
              <a:fillRect t="-141102" r="-5112" b="-15976"/>
            </a:stretch>
          </a:blipFill>
        </p:spPr>
      </p:sp>
      <p:sp>
        <p:nvSpPr>
          <p:cNvPr id="5" name="Freeform 5"/>
          <p:cNvSpPr/>
          <p:nvPr/>
        </p:nvSpPr>
        <p:spPr>
          <a:xfrm>
            <a:off x="9646420" y="5590196"/>
            <a:ext cx="8318095" cy="2295993"/>
          </a:xfrm>
          <a:custGeom>
            <a:avLst/>
            <a:gdLst/>
            <a:ahLst/>
            <a:cxnLst/>
            <a:rect l="l" t="t" r="r" b="b"/>
            <a:pathLst>
              <a:path w="8318095" h="2295993">
                <a:moveTo>
                  <a:pt x="0" y="0"/>
                </a:moveTo>
                <a:lnTo>
                  <a:pt x="8318095" y="0"/>
                </a:lnTo>
                <a:lnTo>
                  <a:pt x="8318095" y="2295993"/>
                </a:lnTo>
                <a:lnTo>
                  <a:pt x="0" y="2295993"/>
                </a:lnTo>
                <a:lnTo>
                  <a:pt x="0" y="0"/>
                </a:lnTo>
                <a:close/>
              </a:path>
            </a:pathLst>
          </a:custGeom>
          <a:blipFill>
            <a:blip r:embed="rId6"/>
            <a:stretch>
              <a:fillRect t="-97407" r="-1670" b="-32803"/>
            </a:stretch>
          </a:blipFill>
        </p:spPr>
      </p:sp>
      <p:sp>
        <p:nvSpPr>
          <p:cNvPr id="6" name="Freeform 6"/>
          <p:cNvSpPr/>
          <p:nvPr/>
        </p:nvSpPr>
        <p:spPr>
          <a:xfrm>
            <a:off x="9636550" y="1240163"/>
            <a:ext cx="8327965" cy="2224380"/>
          </a:xfrm>
          <a:custGeom>
            <a:avLst/>
            <a:gdLst/>
            <a:ahLst/>
            <a:cxnLst/>
            <a:rect l="l" t="t" r="r" b="b"/>
            <a:pathLst>
              <a:path w="8327965" h="2224380">
                <a:moveTo>
                  <a:pt x="0" y="0"/>
                </a:moveTo>
                <a:lnTo>
                  <a:pt x="8327965" y="0"/>
                </a:lnTo>
                <a:lnTo>
                  <a:pt x="8327965" y="2224380"/>
                </a:lnTo>
                <a:lnTo>
                  <a:pt x="0" y="2224380"/>
                </a:lnTo>
                <a:lnTo>
                  <a:pt x="0" y="0"/>
                </a:lnTo>
                <a:close/>
              </a:path>
            </a:pathLst>
          </a:custGeom>
          <a:blipFill>
            <a:blip r:embed="rId7"/>
            <a:stretch>
              <a:fillRect t="-101286" r="-1867" b="-37079"/>
            </a:stretch>
          </a:blipFill>
        </p:spPr>
      </p:sp>
      <p:sp>
        <p:nvSpPr>
          <p:cNvPr id="7" name="TextBox 7"/>
          <p:cNvSpPr txBox="1"/>
          <p:nvPr/>
        </p:nvSpPr>
        <p:spPr>
          <a:xfrm>
            <a:off x="4390083" y="271983"/>
            <a:ext cx="9070437" cy="973455"/>
          </a:xfrm>
          <a:prstGeom prst="rect">
            <a:avLst/>
          </a:prstGeom>
        </p:spPr>
        <p:txBody>
          <a:bodyPr lIns="0" tIns="0" rIns="0" bIns="0" rtlCol="0" anchor="t">
            <a:spAutoFit/>
          </a:bodyPr>
          <a:lstStyle/>
          <a:p>
            <a:pPr algn="l">
              <a:lnSpc>
                <a:spcPts val="7200"/>
              </a:lnSpc>
            </a:pPr>
            <a:r>
              <a:rPr lang="en-US" sz="7200" b="1" spc="-266">
                <a:solidFill>
                  <a:srgbClr val="FFFFFF"/>
                </a:solidFill>
                <a:latin typeface="Aileron Bold"/>
                <a:ea typeface="Aileron Bold"/>
                <a:cs typeface="Aileron Bold"/>
                <a:sym typeface="Aileron Bold"/>
              </a:rPr>
              <a:t>TIME CONTRIBUTION</a:t>
            </a:r>
          </a:p>
        </p:txBody>
      </p:sp>
      <p:sp>
        <p:nvSpPr>
          <p:cNvPr id="8" name="TextBox 8"/>
          <p:cNvSpPr txBox="1"/>
          <p:nvPr/>
        </p:nvSpPr>
        <p:spPr>
          <a:xfrm>
            <a:off x="699976" y="6130799"/>
            <a:ext cx="8225326" cy="1758950"/>
          </a:xfrm>
          <a:prstGeom prst="rect">
            <a:avLst/>
          </a:prstGeom>
        </p:spPr>
        <p:txBody>
          <a:bodyPr lIns="0" tIns="0" rIns="0" bIns="0" rtlCol="0" anchor="t">
            <a:spAutoFit/>
          </a:bodyPr>
          <a:lstStyle/>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Prioritize comprehensive testing and bug fixing.</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Improve test coverage and system reliability.</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Refine UI/UX based on feedback.</a:t>
            </a:r>
          </a:p>
          <a:p>
            <a:pPr marL="431802" lvl="1" indent="-215901" algn="l">
              <a:lnSpc>
                <a:spcPts val="2800"/>
              </a:lnSpc>
              <a:spcBef>
                <a:spcPct val="0"/>
              </a:spcBef>
              <a:buFont typeface="Arial"/>
              <a:buChar char="•"/>
            </a:pPr>
            <a:r>
              <a:rPr lang="en-US" sz="2000" b="1">
                <a:solidFill>
                  <a:srgbClr val="FFFFFF"/>
                </a:solidFill>
                <a:latin typeface="Aileron Bold"/>
                <a:ea typeface="Aileron Bold"/>
                <a:cs typeface="Aileron Bold"/>
                <a:sym typeface="Aileron Bold"/>
              </a:rPr>
              <a:t>Continue implementing remaining features for the final release.</a:t>
            </a:r>
          </a:p>
          <a:p>
            <a:pPr algn="l">
              <a:lnSpc>
                <a:spcPts val="2800"/>
              </a:lnSpc>
              <a:spcBef>
                <a:spcPct val="0"/>
              </a:spcBef>
            </a:pPr>
            <a:endParaRPr lang="en-US" sz="2000" b="1">
              <a:solidFill>
                <a:srgbClr val="FFFFFF"/>
              </a:solidFill>
              <a:latin typeface="Aileron Bold"/>
              <a:ea typeface="Aileron Bold"/>
              <a:cs typeface="Aileron Bold"/>
              <a:sym typeface="Aileron Bold"/>
            </a:endParaRPr>
          </a:p>
        </p:txBody>
      </p:sp>
      <p:sp>
        <p:nvSpPr>
          <p:cNvPr id="9" name="TextBox 9"/>
          <p:cNvSpPr txBox="1"/>
          <p:nvPr/>
        </p:nvSpPr>
        <p:spPr>
          <a:xfrm>
            <a:off x="893343" y="5613273"/>
            <a:ext cx="5717947" cy="422275"/>
          </a:xfrm>
          <a:prstGeom prst="rect">
            <a:avLst/>
          </a:prstGeom>
        </p:spPr>
        <p:txBody>
          <a:bodyPr lIns="0" tIns="0" rIns="0" bIns="0" rtlCol="0" anchor="t">
            <a:spAutoFit/>
          </a:bodyPr>
          <a:lstStyle/>
          <a:p>
            <a:pPr algn="l">
              <a:lnSpc>
                <a:spcPts val="3499"/>
              </a:lnSpc>
              <a:spcBef>
                <a:spcPct val="0"/>
              </a:spcBef>
            </a:pPr>
            <a:r>
              <a:rPr lang="en-US" sz="2499" b="1">
                <a:solidFill>
                  <a:srgbClr val="FFFFFF"/>
                </a:solidFill>
                <a:latin typeface="Aileron Bold"/>
                <a:ea typeface="Aileron Bold"/>
                <a:cs typeface="Aileron Bold"/>
                <a:sym typeface="Aileron Bold"/>
              </a:rPr>
              <a:t>Moving Forward</a:t>
            </a:r>
          </a:p>
        </p:txBody>
      </p:sp>
      <p:sp>
        <p:nvSpPr>
          <p:cNvPr id="10" name="TextBox 10"/>
          <p:cNvSpPr txBox="1"/>
          <p:nvPr/>
        </p:nvSpPr>
        <p:spPr>
          <a:xfrm>
            <a:off x="1028700" y="2324100"/>
            <a:ext cx="5717947" cy="422275"/>
          </a:xfrm>
          <a:prstGeom prst="rect">
            <a:avLst/>
          </a:prstGeom>
        </p:spPr>
        <p:txBody>
          <a:bodyPr lIns="0" tIns="0" rIns="0" bIns="0" rtlCol="0" anchor="t">
            <a:spAutoFit/>
          </a:bodyPr>
          <a:lstStyle/>
          <a:p>
            <a:pPr algn="l">
              <a:lnSpc>
                <a:spcPts val="3499"/>
              </a:lnSpc>
              <a:spcBef>
                <a:spcPct val="0"/>
              </a:spcBef>
            </a:pPr>
            <a:r>
              <a:rPr lang="en-US" sz="2499" b="1">
                <a:solidFill>
                  <a:srgbClr val="FFFFFF"/>
                </a:solidFill>
                <a:latin typeface="Aileron Bold"/>
                <a:ea typeface="Aileron Bold"/>
                <a:cs typeface="Aileron Bold"/>
                <a:sym typeface="Aileron Bold"/>
              </a:rPr>
              <a:t>Progress to Date</a:t>
            </a:r>
          </a:p>
        </p:txBody>
      </p:sp>
      <p:sp>
        <p:nvSpPr>
          <p:cNvPr id="11" name="TextBox 11"/>
          <p:cNvSpPr txBox="1"/>
          <p:nvPr/>
        </p:nvSpPr>
        <p:spPr>
          <a:xfrm>
            <a:off x="699976" y="2844674"/>
            <a:ext cx="8225326" cy="2816225"/>
          </a:xfrm>
          <a:prstGeom prst="rect">
            <a:avLst/>
          </a:prstGeom>
        </p:spPr>
        <p:txBody>
          <a:bodyPr lIns="0" tIns="0" rIns="0" bIns="0" rtlCol="0" anchor="t">
            <a:spAutoFit/>
          </a:bodyPr>
          <a:lstStyle/>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448 team hours logged.</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Completed all planned MVP frontend, backend, and integration features.</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Successfully delivered Feature Set #1 and achieved MVP functionality.</a:t>
            </a:r>
          </a:p>
          <a:p>
            <a:pPr marL="431802" lvl="1" indent="-215901" algn="l">
              <a:lnSpc>
                <a:spcPts val="2800"/>
              </a:lnSpc>
              <a:buFont typeface="Arial"/>
              <a:buChar char="•"/>
            </a:pPr>
            <a:r>
              <a:rPr lang="en-US" sz="2000" b="1">
                <a:solidFill>
                  <a:srgbClr val="FFFFFF"/>
                </a:solidFill>
                <a:latin typeface="Aileron Bold"/>
                <a:ea typeface="Aileron Bold"/>
                <a:cs typeface="Aileron Bold"/>
                <a:sym typeface="Aileron Bold"/>
              </a:rPr>
              <a:t>Development effort focused on implementation, integration, and validation</a:t>
            </a:r>
          </a:p>
          <a:p>
            <a:pPr algn="l">
              <a:lnSpc>
                <a:spcPts val="2800"/>
              </a:lnSpc>
              <a:spcBef>
                <a:spcPct val="0"/>
              </a:spcBef>
            </a:pPr>
            <a:endParaRPr lang="en-US" sz="2000" b="1">
              <a:solidFill>
                <a:srgbClr val="FFFFFF"/>
              </a:solidFill>
              <a:latin typeface="Aileron Bold"/>
              <a:ea typeface="Aileron Bold"/>
              <a:cs typeface="Aileron Bold"/>
              <a:sym typeface="Aileron Bold"/>
            </a:endParaRPr>
          </a:p>
        </p:txBody>
      </p:sp>
      <p:sp>
        <p:nvSpPr>
          <p:cNvPr id="15" name="TextBox 14">
            <a:extLst>
              <a:ext uri="{FF2B5EF4-FFF2-40B4-BE49-F238E27FC236}">
                <a16:creationId xmlns:a16="http://schemas.microsoft.com/office/drawing/2014/main" id="{F8500E15-D000-AEDE-AC37-ED5F3E47F3AB}"/>
              </a:ext>
            </a:extLst>
          </p:cNvPr>
          <p:cNvSpPr txBox="1"/>
          <p:nvPr/>
        </p:nvSpPr>
        <p:spPr>
          <a:xfrm>
            <a:off x="18013572" y="9813272"/>
            <a:ext cx="301686" cy="369332"/>
          </a:xfrm>
          <a:prstGeom prst="rect">
            <a:avLst/>
          </a:prstGeom>
          <a:noFill/>
        </p:spPr>
        <p:txBody>
          <a:bodyPr wrap="none" rtlCol="0">
            <a:spAutoFit/>
          </a:bodyPr>
          <a:lstStyle/>
          <a:p>
            <a:r>
              <a:rPr lang="en-US" dirty="0">
                <a:solidFill>
                  <a:schemeClr val="bg1">
                    <a:lumMod val="95000"/>
                  </a:schemeClr>
                </a:solidFil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graphicFrame>
        <p:nvGraphicFramePr>
          <p:cNvPr id="3" name="Table 3"/>
          <p:cNvGraphicFramePr>
            <a:graphicFrameLocks noGrp="1"/>
          </p:cNvGraphicFramePr>
          <p:nvPr/>
        </p:nvGraphicFramePr>
        <p:xfrm>
          <a:off x="1986455" y="2138601"/>
          <a:ext cx="14179733" cy="5860776"/>
        </p:xfrm>
        <a:graphic>
          <a:graphicData uri="http://schemas.openxmlformats.org/drawingml/2006/table">
            <a:tbl>
              <a:tblPr/>
              <a:tblGrid>
                <a:gridCol w="3564322">
                  <a:extLst>
                    <a:ext uri="{9D8B030D-6E8A-4147-A177-3AD203B41FA5}">
                      <a16:colId xmlns:a16="http://schemas.microsoft.com/office/drawing/2014/main" val="20000"/>
                    </a:ext>
                  </a:extLst>
                </a:gridCol>
                <a:gridCol w="3593405">
                  <a:extLst>
                    <a:ext uri="{9D8B030D-6E8A-4147-A177-3AD203B41FA5}">
                      <a16:colId xmlns:a16="http://schemas.microsoft.com/office/drawing/2014/main" val="20001"/>
                    </a:ext>
                  </a:extLst>
                </a:gridCol>
                <a:gridCol w="4019959">
                  <a:extLst>
                    <a:ext uri="{9D8B030D-6E8A-4147-A177-3AD203B41FA5}">
                      <a16:colId xmlns:a16="http://schemas.microsoft.com/office/drawing/2014/main" val="20002"/>
                    </a:ext>
                  </a:extLst>
                </a:gridCol>
                <a:gridCol w="3002047">
                  <a:extLst>
                    <a:ext uri="{9D8B030D-6E8A-4147-A177-3AD203B41FA5}">
                      <a16:colId xmlns:a16="http://schemas.microsoft.com/office/drawing/2014/main" val="20003"/>
                    </a:ext>
                  </a:extLst>
                </a:gridCol>
              </a:tblGrid>
              <a:tr h="1953592">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953592">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953592">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4"/>
          <p:cNvSpPr txBox="1"/>
          <p:nvPr/>
        </p:nvSpPr>
        <p:spPr>
          <a:xfrm>
            <a:off x="6337732" y="234950"/>
            <a:ext cx="7169754" cy="973455"/>
          </a:xfrm>
          <a:prstGeom prst="rect">
            <a:avLst/>
          </a:prstGeom>
        </p:spPr>
        <p:txBody>
          <a:bodyPr lIns="0" tIns="0" rIns="0" bIns="0" rtlCol="0" anchor="t">
            <a:spAutoFit/>
          </a:bodyPr>
          <a:lstStyle/>
          <a:p>
            <a:pPr algn="ctr">
              <a:lnSpc>
                <a:spcPts val="7200"/>
              </a:lnSpc>
            </a:pPr>
            <a:r>
              <a:rPr lang="en-US" sz="7200" b="1" spc="-266">
                <a:solidFill>
                  <a:srgbClr val="FFFFFF"/>
                </a:solidFill>
                <a:latin typeface="Aileron Bold"/>
                <a:ea typeface="Aileron Bold"/>
                <a:cs typeface="Aileron Bold"/>
                <a:sym typeface="Aileron Bold"/>
              </a:rPr>
              <a:t>TESTING</a:t>
            </a:r>
          </a:p>
        </p:txBody>
      </p:sp>
      <p:sp>
        <p:nvSpPr>
          <p:cNvPr id="5" name="TextBox 5"/>
          <p:cNvSpPr txBox="1"/>
          <p:nvPr/>
        </p:nvSpPr>
        <p:spPr>
          <a:xfrm>
            <a:off x="2128743" y="1482851"/>
            <a:ext cx="14020800" cy="521297"/>
          </a:xfrm>
          <a:prstGeom prst="rect">
            <a:avLst/>
          </a:prstGeom>
        </p:spPr>
        <p:txBody>
          <a:bodyPr wrap="square"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Testing Type               Framework/Tool                  Coverage                               Status</a:t>
            </a:r>
          </a:p>
        </p:txBody>
      </p:sp>
      <p:sp>
        <p:nvSpPr>
          <p:cNvPr id="6" name="TextBox 6"/>
          <p:cNvSpPr txBox="1"/>
          <p:nvPr/>
        </p:nvSpPr>
        <p:spPr>
          <a:xfrm>
            <a:off x="2346954" y="2436314"/>
            <a:ext cx="2757041" cy="1123950"/>
          </a:xfrm>
          <a:prstGeom prst="rect">
            <a:avLst/>
          </a:prstGeom>
        </p:spPr>
        <p:txBody>
          <a:bodyPr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Unit Tests </a:t>
            </a:r>
          </a:p>
          <a:p>
            <a:pPr algn="ctr">
              <a:lnSpc>
                <a:spcPts val="4500"/>
              </a:lnSpc>
              <a:spcBef>
                <a:spcPct val="0"/>
              </a:spcBef>
            </a:pPr>
            <a:r>
              <a:rPr lang="en-US" sz="3000" b="1" dirty="0">
                <a:solidFill>
                  <a:srgbClr val="FFFFFF"/>
                </a:solidFill>
                <a:latin typeface="Aileron Bold"/>
                <a:ea typeface="Aileron Bold"/>
                <a:cs typeface="Aileron Bold"/>
                <a:sym typeface="Aileron Bold"/>
              </a:rPr>
              <a:t>(Models/Logic)</a:t>
            </a:r>
          </a:p>
        </p:txBody>
      </p:sp>
      <p:sp>
        <p:nvSpPr>
          <p:cNvPr id="7" name="TextBox 7"/>
          <p:cNvSpPr txBox="1"/>
          <p:nvPr/>
        </p:nvSpPr>
        <p:spPr>
          <a:xfrm>
            <a:off x="2217657" y="4591050"/>
            <a:ext cx="2699147" cy="552450"/>
          </a:xfrm>
          <a:prstGeom prst="rect">
            <a:avLst/>
          </a:prstGeom>
        </p:spPr>
        <p:txBody>
          <a:bodyPr lIns="0" tIns="0" rIns="0" bIns="0" rtlCol="0" anchor="t">
            <a:spAutoFit/>
          </a:bodyPr>
          <a:lstStyle/>
          <a:p>
            <a:pPr algn="ctr">
              <a:lnSpc>
                <a:spcPts val="4500"/>
              </a:lnSpc>
              <a:spcBef>
                <a:spcPct val="0"/>
              </a:spcBef>
            </a:pPr>
            <a:r>
              <a:rPr lang="en-US" sz="3000" b="1">
                <a:solidFill>
                  <a:srgbClr val="FFFFFF"/>
                </a:solidFill>
                <a:latin typeface="Aileron Bold"/>
                <a:ea typeface="Aileron Bold"/>
                <a:cs typeface="Aileron Bold"/>
                <a:sym typeface="Aileron Bold"/>
              </a:rPr>
              <a:t>Frontend Tests</a:t>
            </a:r>
          </a:p>
        </p:txBody>
      </p:sp>
      <p:sp>
        <p:nvSpPr>
          <p:cNvPr id="8" name="TextBox 8"/>
          <p:cNvSpPr txBox="1"/>
          <p:nvPr/>
        </p:nvSpPr>
        <p:spPr>
          <a:xfrm>
            <a:off x="2098963" y="6488702"/>
            <a:ext cx="2960638" cy="463116"/>
          </a:xfrm>
          <a:prstGeom prst="rect">
            <a:avLst/>
          </a:prstGeom>
        </p:spPr>
        <p:txBody>
          <a:bodyPr lIns="0" tIns="0" rIns="0" bIns="0" rtlCol="0" anchor="t">
            <a:spAutoFit/>
          </a:bodyPr>
          <a:lstStyle/>
          <a:p>
            <a:pPr algn="ctr">
              <a:lnSpc>
                <a:spcPts val="3892"/>
              </a:lnSpc>
              <a:spcBef>
                <a:spcPct val="0"/>
              </a:spcBef>
            </a:pPr>
            <a:r>
              <a:rPr lang="en-US" sz="2594" b="1">
                <a:solidFill>
                  <a:srgbClr val="FFFFFF"/>
                </a:solidFill>
                <a:latin typeface="Aileron Bold"/>
                <a:ea typeface="Aileron Bold"/>
                <a:cs typeface="Aileron Bold"/>
                <a:sym typeface="Aileron Bold"/>
              </a:rPr>
              <a:t>CI Test Automation</a:t>
            </a:r>
          </a:p>
        </p:txBody>
      </p:sp>
      <p:sp>
        <p:nvSpPr>
          <p:cNvPr id="9" name="TextBox 9"/>
          <p:cNvSpPr txBox="1"/>
          <p:nvPr/>
        </p:nvSpPr>
        <p:spPr>
          <a:xfrm>
            <a:off x="6496594" y="2606811"/>
            <a:ext cx="1669486" cy="754381"/>
          </a:xfrm>
          <a:prstGeom prst="rect">
            <a:avLst/>
          </a:prstGeom>
        </p:spPr>
        <p:txBody>
          <a:bodyPr wrap="square" lIns="0" tIns="0" rIns="0" bIns="0" rtlCol="0" anchor="t">
            <a:spAutoFit/>
          </a:bodyPr>
          <a:lstStyle/>
          <a:p>
            <a:pPr algn="ctr">
              <a:lnSpc>
                <a:spcPts val="6299"/>
              </a:lnSpc>
              <a:spcBef>
                <a:spcPct val="0"/>
              </a:spcBef>
            </a:pPr>
            <a:r>
              <a:rPr lang="en-US" sz="4199" b="1" dirty="0" err="1">
                <a:solidFill>
                  <a:srgbClr val="FFFFFF"/>
                </a:solidFill>
                <a:latin typeface="Aileron Bold"/>
                <a:ea typeface="Aileron Bold"/>
                <a:cs typeface="Aileron Bold"/>
                <a:sym typeface="Aileron Bold"/>
              </a:rPr>
              <a:t>Pytest</a:t>
            </a:r>
            <a:endParaRPr lang="en-US" sz="4199" b="1" dirty="0">
              <a:solidFill>
                <a:srgbClr val="FFFFFF"/>
              </a:solidFill>
              <a:latin typeface="Aileron Bold"/>
              <a:ea typeface="Aileron Bold"/>
              <a:cs typeface="Aileron Bold"/>
              <a:sym typeface="Aileron Bold"/>
            </a:endParaRPr>
          </a:p>
        </p:txBody>
      </p:sp>
      <p:sp>
        <p:nvSpPr>
          <p:cNvPr id="10" name="TextBox 10"/>
          <p:cNvSpPr txBox="1"/>
          <p:nvPr/>
        </p:nvSpPr>
        <p:spPr>
          <a:xfrm>
            <a:off x="6698256" y="4637542"/>
            <a:ext cx="1467824" cy="613410"/>
          </a:xfrm>
          <a:prstGeom prst="rect">
            <a:avLst/>
          </a:prstGeom>
        </p:spPr>
        <p:txBody>
          <a:bodyPr wrap="square" lIns="0" tIns="0" rIns="0" bIns="0" rtlCol="0" anchor="t">
            <a:spAutoFit/>
          </a:bodyPr>
          <a:lstStyle/>
          <a:p>
            <a:pPr algn="ctr">
              <a:lnSpc>
                <a:spcPts val="5099"/>
              </a:lnSpc>
              <a:spcBef>
                <a:spcPct val="0"/>
              </a:spcBef>
            </a:pPr>
            <a:r>
              <a:rPr lang="en-US" sz="3399" b="1" dirty="0" err="1">
                <a:solidFill>
                  <a:srgbClr val="FFFFFF"/>
                </a:solidFill>
                <a:latin typeface="Aileron Bold"/>
                <a:ea typeface="Aileron Bold"/>
                <a:cs typeface="Aileron Bold"/>
                <a:sym typeface="Aileron Bold"/>
              </a:rPr>
              <a:t>Vitest</a:t>
            </a:r>
            <a:endParaRPr lang="en-US" sz="3399" b="1" dirty="0">
              <a:solidFill>
                <a:srgbClr val="FFFFFF"/>
              </a:solidFill>
              <a:latin typeface="Aileron Bold"/>
              <a:ea typeface="Aileron Bold"/>
              <a:cs typeface="Aileron Bold"/>
              <a:sym typeface="Aileron Bold"/>
            </a:endParaRPr>
          </a:p>
        </p:txBody>
      </p:sp>
      <p:sp>
        <p:nvSpPr>
          <p:cNvPr id="11" name="TextBox 11"/>
          <p:cNvSpPr txBox="1"/>
          <p:nvPr/>
        </p:nvSpPr>
        <p:spPr>
          <a:xfrm>
            <a:off x="5791372" y="6527302"/>
            <a:ext cx="2997845" cy="598170"/>
          </a:xfrm>
          <a:prstGeom prst="rect">
            <a:avLst/>
          </a:prstGeom>
        </p:spPr>
        <p:txBody>
          <a:bodyPr lIns="0" tIns="0" rIns="0" bIns="0" rtlCol="0" anchor="t">
            <a:spAutoFit/>
          </a:bodyPr>
          <a:lstStyle/>
          <a:p>
            <a:pPr algn="ctr">
              <a:lnSpc>
                <a:spcPts val="4949"/>
              </a:lnSpc>
              <a:spcBef>
                <a:spcPct val="0"/>
              </a:spcBef>
            </a:pPr>
            <a:r>
              <a:rPr lang="en-US" sz="3299" b="1" dirty="0">
                <a:solidFill>
                  <a:srgbClr val="FFFFFF"/>
                </a:solidFill>
                <a:latin typeface="Aileron Bold"/>
                <a:ea typeface="Aileron Bold"/>
                <a:cs typeface="Aileron Bold"/>
                <a:sym typeface="Aileron Bold"/>
              </a:rPr>
              <a:t>GitHub Actions</a:t>
            </a:r>
          </a:p>
        </p:txBody>
      </p:sp>
      <p:sp>
        <p:nvSpPr>
          <p:cNvPr id="12" name="TextBox 12"/>
          <p:cNvSpPr txBox="1"/>
          <p:nvPr/>
        </p:nvSpPr>
        <p:spPr>
          <a:xfrm>
            <a:off x="9204514" y="2150564"/>
            <a:ext cx="3749486" cy="1695450"/>
          </a:xfrm>
          <a:prstGeom prst="rect">
            <a:avLst/>
          </a:prstGeom>
        </p:spPr>
        <p:txBody>
          <a:bodyPr wrap="square"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User, </a:t>
            </a:r>
          </a:p>
          <a:p>
            <a:pPr algn="ctr">
              <a:lnSpc>
                <a:spcPts val="4500"/>
              </a:lnSpc>
              <a:spcBef>
                <a:spcPct val="0"/>
              </a:spcBef>
            </a:pPr>
            <a:r>
              <a:rPr lang="en-US" sz="3000" b="1" dirty="0">
                <a:solidFill>
                  <a:srgbClr val="FFFFFF"/>
                </a:solidFill>
                <a:latin typeface="Aileron Bold"/>
                <a:ea typeface="Aileron Bold"/>
                <a:cs typeface="Aileron Bold"/>
                <a:sym typeface="Aileron Bold"/>
              </a:rPr>
              <a:t>Course, </a:t>
            </a:r>
          </a:p>
          <a:p>
            <a:pPr algn="ctr">
              <a:lnSpc>
                <a:spcPts val="4500"/>
              </a:lnSpc>
              <a:spcBef>
                <a:spcPct val="0"/>
              </a:spcBef>
            </a:pPr>
            <a:r>
              <a:rPr lang="en-US" sz="3000" b="1" dirty="0">
                <a:solidFill>
                  <a:srgbClr val="FFFFFF"/>
                </a:solidFill>
                <a:latin typeface="Aileron Bold"/>
                <a:ea typeface="Aileron Bold"/>
                <a:cs typeface="Aileron Bold"/>
                <a:sym typeface="Aileron Bold"/>
              </a:rPr>
              <a:t>Application models</a:t>
            </a:r>
          </a:p>
        </p:txBody>
      </p:sp>
      <p:sp>
        <p:nvSpPr>
          <p:cNvPr id="13" name="TextBox 13"/>
          <p:cNvSpPr txBox="1"/>
          <p:nvPr/>
        </p:nvSpPr>
        <p:spPr>
          <a:xfrm>
            <a:off x="9610270" y="4305300"/>
            <a:ext cx="2980283" cy="1123950"/>
          </a:xfrm>
          <a:prstGeom prst="rect">
            <a:avLst/>
          </a:prstGeom>
        </p:spPr>
        <p:txBody>
          <a:bodyPr wrap="square"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DOM behavior</a:t>
            </a:r>
          </a:p>
          <a:p>
            <a:pPr algn="ctr">
              <a:lnSpc>
                <a:spcPts val="4500"/>
              </a:lnSpc>
              <a:spcBef>
                <a:spcPct val="0"/>
              </a:spcBef>
            </a:pPr>
            <a:r>
              <a:rPr lang="en-US" sz="3000" b="1" dirty="0">
                <a:solidFill>
                  <a:srgbClr val="FFFFFF"/>
                </a:solidFill>
                <a:latin typeface="Aileron Bold"/>
                <a:ea typeface="Aileron Bold"/>
                <a:cs typeface="Aileron Bold"/>
                <a:sym typeface="Aileron Bold"/>
              </a:rPr>
              <a:t>form validation</a:t>
            </a:r>
          </a:p>
        </p:txBody>
      </p:sp>
      <p:sp>
        <p:nvSpPr>
          <p:cNvPr id="14" name="TextBox 14"/>
          <p:cNvSpPr txBox="1"/>
          <p:nvPr/>
        </p:nvSpPr>
        <p:spPr>
          <a:xfrm>
            <a:off x="9437859" y="6573022"/>
            <a:ext cx="2980283" cy="552450"/>
          </a:xfrm>
          <a:prstGeom prst="rect">
            <a:avLst/>
          </a:prstGeom>
        </p:spPr>
        <p:txBody>
          <a:bodyPr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Run on every PR </a:t>
            </a:r>
          </a:p>
        </p:txBody>
      </p:sp>
      <p:sp>
        <p:nvSpPr>
          <p:cNvPr id="15" name="TextBox 15"/>
          <p:cNvSpPr txBox="1"/>
          <p:nvPr/>
        </p:nvSpPr>
        <p:spPr>
          <a:xfrm>
            <a:off x="14034743" y="4698502"/>
            <a:ext cx="1433857" cy="521297"/>
          </a:xfrm>
          <a:prstGeom prst="rect">
            <a:avLst/>
          </a:prstGeom>
        </p:spPr>
        <p:txBody>
          <a:bodyPr wrap="square" lIns="0" tIns="0" rIns="0" bIns="0" rtlCol="0" anchor="t">
            <a:spAutoFit/>
          </a:bodyPr>
          <a:lstStyle/>
          <a:p>
            <a:pPr algn="ctr">
              <a:lnSpc>
                <a:spcPts val="4500"/>
              </a:lnSpc>
              <a:spcBef>
                <a:spcPct val="0"/>
              </a:spcBef>
            </a:pPr>
            <a:r>
              <a:rPr lang="en-US" sz="3000" b="1" dirty="0">
                <a:solidFill>
                  <a:srgbClr val="00BF63"/>
                </a:solidFill>
                <a:latin typeface="Aileron Bold"/>
                <a:ea typeface="Aileron Bold"/>
                <a:cs typeface="Aileron Bold"/>
                <a:sym typeface="Aileron Bold"/>
              </a:rPr>
              <a:t>Active</a:t>
            </a:r>
          </a:p>
        </p:txBody>
      </p:sp>
      <p:sp>
        <p:nvSpPr>
          <p:cNvPr id="16" name="TextBox 16"/>
          <p:cNvSpPr txBox="1"/>
          <p:nvPr/>
        </p:nvSpPr>
        <p:spPr>
          <a:xfrm>
            <a:off x="14034743" y="2808742"/>
            <a:ext cx="1433857" cy="521297"/>
          </a:xfrm>
          <a:prstGeom prst="rect">
            <a:avLst/>
          </a:prstGeom>
        </p:spPr>
        <p:txBody>
          <a:bodyPr wrap="square" lIns="0" tIns="0" rIns="0" bIns="0" rtlCol="0" anchor="t">
            <a:spAutoFit/>
          </a:bodyPr>
          <a:lstStyle/>
          <a:p>
            <a:pPr algn="ctr">
              <a:lnSpc>
                <a:spcPts val="4500"/>
              </a:lnSpc>
              <a:spcBef>
                <a:spcPct val="0"/>
              </a:spcBef>
            </a:pPr>
            <a:r>
              <a:rPr lang="en-US" sz="3000" b="1" dirty="0">
                <a:solidFill>
                  <a:srgbClr val="00BF63"/>
                </a:solidFill>
                <a:latin typeface="Aileron Bold"/>
                <a:ea typeface="Aileron Bold"/>
                <a:cs typeface="Aileron Bold"/>
                <a:sym typeface="Aileron Bold"/>
              </a:rPr>
              <a:t>Active</a:t>
            </a:r>
          </a:p>
        </p:txBody>
      </p:sp>
      <p:sp>
        <p:nvSpPr>
          <p:cNvPr id="17" name="TextBox 17"/>
          <p:cNvSpPr txBox="1"/>
          <p:nvPr/>
        </p:nvSpPr>
        <p:spPr>
          <a:xfrm>
            <a:off x="14049814" y="6536827"/>
            <a:ext cx="1433857" cy="521297"/>
          </a:xfrm>
          <a:prstGeom prst="rect">
            <a:avLst/>
          </a:prstGeom>
        </p:spPr>
        <p:txBody>
          <a:bodyPr wrap="square" lIns="0" tIns="0" rIns="0" bIns="0" rtlCol="0" anchor="t">
            <a:spAutoFit/>
          </a:bodyPr>
          <a:lstStyle/>
          <a:p>
            <a:pPr algn="ctr">
              <a:lnSpc>
                <a:spcPts val="4500"/>
              </a:lnSpc>
              <a:spcBef>
                <a:spcPct val="0"/>
              </a:spcBef>
            </a:pPr>
            <a:r>
              <a:rPr lang="en-US" sz="3000" b="1" dirty="0">
                <a:solidFill>
                  <a:srgbClr val="00BF63"/>
                </a:solidFill>
                <a:latin typeface="Aileron Bold"/>
                <a:ea typeface="Aileron Bold"/>
                <a:cs typeface="Aileron Bold"/>
                <a:sym typeface="Aileron Bold"/>
              </a:rPr>
              <a:t>Active</a:t>
            </a:r>
          </a:p>
        </p:txBody>
      </p:sp>
      <p:sp>
        <p:nvSpPr>
          <p:cNvPr id="21" name="TextBox 20">
            <a:extLst>
              <a:ext uri="{FF2B5EF4-FFF2-40B4-BE49-F238E27FC236}">
                <a16:creationId xmlns:a16="http://schemas.microsoft.com/office/drawing/2014/main" id="{2AB38BAD-2727-C88B-3117-AD748A3332F5}"/>
              </a:ext>
            </a:extLst>
          </p:cNvPr>
          <p:cNvSpPr txBox="1"/>
          <p:nvPr/>
        </p:nvSpPr>
        <p:spPr>
          <a:xfrm>
            <a:off x="17907000" y="9639300"/>
            <a:ext cx="301686" cy="369332"/>
          </a:xfrm>
          <a:prstGeom prst="rect">
            <a:avLst/>
          </a:prstGeom>
          <a:noFill/>
        </p:spPr>
        <p:txBody>
          <a:bodyPr wrap="none" rtlCol="0">
            <a:spAutoFit/>
          </a:bodyPr>
          <a:lstStyle/>
          <a:p>
            <a:r>
              <a:rPr lang="en-US" dirty="0">
                <a:solidFill>
                  <a:schemeClr val="bg1">
                    <a:lumMod val="95000"/>
                  </a:schemeClr>
                </a:solidFil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3" name="Freeform 3"/>
          <p:cNvSpPr/>
          <p:nvPr/>
        </p:nvSpPr>
        <p:spPr>
          <a:xfrm>
            <a:off x="452298" y="1028700"/>
            <a:ext cx="7149053" cy="5413181"/>
          </a:xfrm>
          <a:custGeom>
            <a:avLst/>
            <a:gdLst/>
            <a:ahLst/>
            <a:cxnLst/>
            <a:rect l="l" t="t" r="r" b="b"/>
            <a:pathLst>
              <a:path w="7149053" h="5413181">
                <a:moveTo>
                  <a:pt x="0" y="0"/>
                </a:moveTo>
                <a:lnTo>
                  <a:pt x="7149053" y="0"/>
                </a:lnTo>
                <a:lnTo>
                  <a:pt x="7149053" y="5413181"/>
                </a:lnTo>
                <a:lnTo>
                  <a:pt x="0" y="5413181"/>
                </a:lnTo>
                <a:lnTo>
                  <a:pt x="0" y="0"/>
                </a:lnTo>
                <a:close/>
              </a:path>
            </a:pathLst>
          </a:custGeom>
          <a:blipFill>
            <a:blip r:embed="rId4"/>
            <a:stretch>
              <a:fillRect l="-25859" t="-39144" r="-50774" b="-6652"/>
            </a:stretch>
          </a:blipFill>
        </p:spPr>
      </p:sp>
      <p:sp>
        <p:nvSpPr>
          <p:cNvPr id="4" name="Freeform 4"/>
          <p:cNvSpPr/>
          <p:nvPr/>
        </p:nvSpPr>
        <p:spPr>
          <a:xfrm>
            <a:off x="10236675" y="4393995"/>
            <a:ext cx="7504089" cy="5381222"/>
          </a:xfrm>
          <a:custGeom>
            <a:avLst/>
            <a:gdLst/>
            <a:ahLst/>
            <a:cxnLst/>
            <a:rect l="l" t="t" r="r" b="b"/>
            <a:pathLst>
              <a:path w="7504089" h="5381222">
                <a:moveTo>
                  <a:pt x="0" y="0"/>
                </a:moveTo>
                <a:lnTo>
                  <a:pt x="7504089" y="0"/>
                </a:lnTo>
                <a:lnTo>
                  <a:pt x="7504089" y="5381222"/>
                </a:lnTo>
                <a:lnTo>
                  <a:pt x="0" y="5381222"/>
                </a:lnTo>
                <a:lnTo>
                  <a:pt x="0" y="0"/>
                </a:lnTo>
                <a:close/>
              </a:path>
            </a:pathLst>
          </a:custGeom>
          <a:blipFill>
            <a:blip r:embed="rId5"/>
            <a:stretch>
              <a:fillRect l="-28308" t="-46739" r="-53554" b="-11765"/>
            </a:stretch>
          </a:blipFill>
        </p:spPr>
      </p:sp>
      <p:sp>
        <p:nvSpPr>
          <p:cNvPr id="5" name="TextBox 5"/>
          <p:cNvSpPr txBox="1"/>
          <p:nvPr/>
        </p:nvSpPr>
        <p:spPr>
          <a:xfrm>
            <a:off x="2127594" y="159502"/>
            <a:ext cx="3892206" cy="521297"/>
          </a:xfrm>
          <a:prstGeom prst="rect">
            <a:avLst/>
          </a:prstGeom>
        </p:spPr>
        <p:txBody>
          <a:bodyPr wrap="square"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FRONTEND TESTS:</a:t>
            </a:r>
          </a:p>
        </p:txBody>
      </p:sp>
      <p:sp>
        <p:nvSpPr>
          <p:cNvPr id="6" name="TextBox 6"/>
          <p:cNvSpPr txBox="1"/>
          <p:nvPr/>
        </p:nvSpPr>
        <p:spPr>
          <a:xfrm>
            <a:off x="11995659" y="3411441"/>
            <a:ext cx="3868356" cy="552450"/>
          </a:xfrm>
          <a:prstGeom prst="rect">
            <a:avLst/>
          </a:prstGeom>
        </p:spPr>
        <p:txBody>
          <a:bodyPr lIns="0" tIns="0" rIns="0" bIns="0" rtlCol="0" anchor="t">
            <a:spAutoFit/>
          </a:bodyPr>
          <a:lstStyle/>
          <a:p>
            <a:pPr algn="ctr">
              <a:lnSpc>
                <a:spcPts val="4500"/>
              </a:lnSpc>
              <a:spcBef>
                <a:spcPct val="0"/>
              </a:spcBef>
            </a:pPr>
            <a:r>
              <a:rPr lang="en-US" sz="3000" b="1">
                <a:solidFill>
                  <a:srgbClr val="FFFFFF"/>
                </a:solidFill>
                <a:latin typeface="Aileron Bold"/>
                <a:ea typeface="Aileron Bold"/>
                <a:cs typeface="Aileron Bold"/>
                <a:sym typeface="Aileron Bold"/>
              </a:rPr>
              <a:t>BACKEND TESTS:</a:t>
            </a:r>
          </a:p>
        </p:txBody>
      </p:sp>
      <p:sp>
        <p:nvSpPr>
          <p:cNvPr id="10" name="TextBox 9">
            <a:extLst>
              <a:ext uri="{FF2B5EF4-FFF2-40B4-BE49-F238E27FC236}">
                <a16:creationId xmlns:a16="http://schemas.microsoft.com/office/drawing/2014/main" id="{83248079-DFBE-84C1-7DF7-40A60756E98F}"/>
              </a:ext>
            </a:extLst>
          </p:cNvPr>
          <p:cNvSpPr txBox="1"/>
          <p:nvPr/>
        </p:nvSpPr>
        <p:spPr>
          <a:xfrm>
            <a:off x="17983200" y="9775217"/>
            <a:ext cx="301686" cy="369332"/>
          </a:xfrm>
          <a:prstGeom prst="rect">
            <a:avLst/>
          </a:prstGeom>
          <a:noFill/>
        </p:spPr>
        <p:txBody>
          <a:bodyPr wrap="none" rtlCol="0">
            <a:spAutoFit/>
          </a:bodyPr>
          <a:lstStyle/>
          <a:p>
            <a:r>
              <a:rPr lang="en-US" dirty="0">
                <a:solidFill>
                  <a:schemeClr val="bg1">
                    <a:lumMod val="95000"/>
                  </a:schemeClr>
                </a:solidFil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3" name="TextBox 3"/>
          <p:cNvSpPr txBox="1"/>
          <p:nvPr/>
        </p:nvSpPr>
        <p:spPr>
          <a:xfrm>
            <a:off x="3387661" y="603885"/>
            <a:ext cx="9557355" cy="973455"/>
          </a:xfrm>
          <a:prstGeom prst="rect">
            <a:avLst/>
          </a:prstGeom>
        </p:spPr>
        <p:txBody>
          <a:bodyPr lIns="0" tIns="0" rIns="0" bIns="0" rtlCol="0" anchor="t">
            <a:spAutoFit/>
          </a:bodyPr>
          <a:lstStyle/>
          <a:p>
            <a:pPr algn="ctr">
              <a:lnSpc>
                <a:spcPts val="7200"/>
              </a:lnSpc>
            </a:pPr>
            <a:r>
              <a:rPr lang="en-US" sz="7200" b="1" spc="-266">
                <a:solidFill>
                  <a:srgbClr val="FFFFFF"/>
                </a:solidFill>
                <a:latin typeface="Aileron Bold"/>
                <a:ea typeface="Aileron Bold"/>
                <a:cs typeface="Aileron Bold"/>
                <a:sym typeface="Aileron Bold"/>
              </a:rPr>
              <a:t>LIVE DEMO</a:t>
            </a:r>
          </a:p>
        </p:txBody>
      </p:sp>
      <p:grpSp>
        <p:nvGrpSpPr>
          <p:cNvPr id="4" name="Group 4"/>
          <p:cNvGrpSpPr/>
          <p:nvPr/>
        </p:nvGrpSpPr>
        <p:grpSpPr>
          <a:xfrm>
            <a:off x="889838" y="3993575"/>
            <a:ext cx="1061403" cy="106140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a:solidFill>
                    <a:srgbClr val="FFFFFF"/>
                  </a:solidFill>
                  <a:latin typeface="Aileron"/>
                  <a:ea typeface="Aileron"/>
                  <a:cs typeface="Aileron"/>
                  <a:sym typeface="Aileron"/>
                </a:rPr>
                <a:t>01</a:t>
              </a:r>
            </a:p>
          </p:txBody>
        </p:sp>
      </p:grpSp>
      <p:grpSp>
        <p:nvGrpSpPr>
          <p:cNvPr id="7" name="Group 7"/>
          <p:cNvGrpSpPr/>
          <p:nvPr/>
        </p:nvGrpSpPr>
        <p:grpSpPr>
          <a:xfrm>
            <a:off x="9144000" y="4082097"/>
            <a:ext cx="1061403" cy="106140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a:solidFill>
                    <a:srgbClr val="FFFFFF"/>
                  </a:solidFill>
                  <a:latin typeface="Aileron"/>
                  <a:ea typeface="Aileron"/>
                  <a:cs typeface="Aileron"/>
                  <a:sym typeface="Aileron"/>
                </a:rPr>
                <a:t>03</a:t>
              </a:r>
            </a:p>
          </p:txBody>
        </p:sp>
      </p:grpSp>
      <p:grpSp>
        <p:nvGrpSpPr>
          <p:cNvPr id="10" name="Group 10"/>
          <p:cNvGrpSpPr/>
          <p:nvPr/>
        </p:nvGrpSpPr>
        <p:grpSpPr>
          <a:xfrm>
            <a:off x="889838" y="6773287"/>
            <a:ext cx="1061403" cy="106140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a:solidFill>
                    <a:srgbClr val="FFFFFF"/>
                  </a:solidFill>
                  <a:latin typeface="Aileron"/>
                  <a:ea typeface="Aileron"/>
                  <a:cs typeface="Aileron"/>
                  <a:sym typeface="Aileron"/>
                </a:rPr>
                <a:t>02</a:t>
              </a:r>
            </a:p>
          </p:txBody>
        </p:sp>
      </p:grpSp>
      <p:grpSp>
        <p:nvGrpSpPr>
          <p:cNvPr id="13" name="Group 13"/>
          <p:cNvGrpSpPr/>
          <p:nvPr/>
        </p:nvGrpSpPr>
        <p:grpSpPr>
          <a:xfrm>
            <a:off x="9289273" y="6756936"/>
            <a:ext cx="1061403" cy="106140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220"/>
                </a:lnSpc>
              </a:pPr>
              <a:r>
                <a:rPr lang="en-US" sz="2300">
                  <a:solidFill>
                    <a:srgbClr val="FFFFFF"/>
                  </a:solidFill>
                  <a:latin typeface="Aileron"/>
                  <a:ea typeface="Aileron"/>
                  <a:cs typeface="Aileron"/>
                  <a:sym typeface="Aileron"/>
                </a:rPr>
                <a:t>04</a:t>
              </a:r>
            </a:p>
          </p:txBody>
        </p:sp>
      </p:grpSp>
      <p:sp>
        <p:nvSpPr>
          <p:cNvPr id="16" name="TextBox 16"/>
          <p:cNvSpPr txBox="1"/>
          <p:nvPr/>
        </p:nvSpPr>
        <p:spPr>
          <a:xfrm>
            <a:off x="2376649" y="4172962"/>
            <a:ext cx="5789690" cy="552450"/>
          </a:xfrm>
          <a:prstGeom prst="rect">
            <a:avLst/>
          </a:prstGeom>
        </p:spPr>
        <p:txBody>
          <a:bodyPr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Natural Language Assistant</a:t>
            </a:r>
          </a:p>
        </p:txBody>
      </p:sp>
      <p:sp>
        <p:nvSpPr>
          <p:cNvPr id="17" name="TextBox 17"/>
          <p:cNvSpPr txBox="1"/>
          <p:nvPr/>
        </p:nvSpPr>
        <p:spPr>
          <a:xfrm>
            <a:off x="10350676" y="4172962"/>
            <a:ext cx="6072236" cy="1123950"/>
          </a:xfrm>
          <a:prstGeom prst="rect">
            <a:avLst/>
          </a:prstGeom>
        </p:spPr>
        <p:txBody>
          <a:bodyPr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Assignment Creation with Dry-Run Preview</a:t>
            </a:r>
          </a:p>
        </p:txBody>
      </p:sp>
      <p:sp>
        <p:nvSpPr>
          <p:cNvPr id="18" name="TextBox 18"/>
          <p:cNvSpPr txBox="1"/>
          <p:nvPr/>
        </p:nvSpPr>
        <p:spPr>
          <a:xfrm>
            <a:off x="1951241" y="6678037"/>
            <a:ext cx="5789690" cy="1123950"/>
          </a:xfrm>
          <a:prstGeom prst="rect">
            <a:avLst/>
          </a:prstGeom>
        </p:spPr>
        <p:txBody>
          <a:bodyPr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Course Dashboard &amp; Submission Analytics</a:t>
            </a:r>
          </a:p>
        </p:txBody>
      </p:sp>
      <p:sp>
        <p:nvSpPr>
          <p:cNvPr id="19" name="TextBox 19"/>
          <p:cNvSpPr txBox="1"/>
          <p:nvPr/>
        </p:nvSpPr>
        <p:spPr>
          <a:xfrm>
            <a:off x="10491949" y="6710740"/>
            <a:ext cx="5789690" cy="1123950"/>
          </a:xfrm>
          <a:prstGeom prst="rect">
            <a:avLst/>
          </a:prstGeom>
        </p:spPr>
        <p:txBody>
          <a:bodyPr lIns="0" tIns="0" rIns="0" bIns="0" rtlCol="0" anchor="t">
            <a:spAutoFit/>
          </a:bodyPr>
          <a:lstStyle/>
          <a:p>
            <a:pPr algn="ctr">
              <a:lnSpc>
                <a:spcPts val="4500"/>
              </a:lnSpc>
              <a:spcBef>
                <a:spcPct val="0"/>
              </a:spcBef>
            </a:pPr>
            <a:r>
              <a:rPr lang="en-US" sz="3000" b="1" dirty="0">
                <a:solidFill>
                  <a:srgbClr val="FFFFFF"/>
                </a:solidFill>
                <a:latin typeface="Aileron Bold"/>
                <a:ea typeface="Aileron Bold"/>
                <a:cs typeface="Aileron Bold"/>
                <a:sym typeface="Aileron Bold"/>
              </a:rPr>
              <a:t>Instructor Account Management</a:t>
            </a:r>
          </a:p>
        </p:txBody>
      </p:sp>
      <p:sp>
        <p:nvSpPr>
          <p:cNvPr id="24" name="TextBox 23">
            <a:extLst>
              <a:ext uri="{FF2B5EF4-FFF2-40B4-BE49-F238E27FC236}">
                <a16:creationId xmlns:a16="http://schemas.microsoft.com/office/drawing/2014/main" id="{EC9FCE46-645E-BE92-A704-08FAF457B68F}"/>
              </a:ext>
            </a:extLst>
          </p:cNvPr>
          <p:cNvSpPr txBox="1"/>
          <p:nvPr/>
        </p:nvSpPr>
        <p:spPr>
          <a:xfrm>
            <a:off x="17754600" y="9715500"/>
            <a:ext cx="9144000" cy="369332"/>
          </a:xfrm>
          <a:prstGeom prst="rect">
            <a:avLst/>
          </a:prstGeom>
          <a:noFill/>
        </p:spPr>
        <p:txBody>
          <a:bodyPr wrap="square">
            <a:spAutoFit/>
          </a:bodyPr>
          <a:lstStyle/>
          <a:p>
            <a:r>
              <a:rPr lang="en-US" dirty="0">
                <a:solidFill>
                  <a:schemeClr val="bg1">
                    <a:lumMod val="95000"/>
                  </a:schemeClr>
                </a:solidFil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3" name="TextBox 3"/>
          <p:cNvSpPr txBox="1"/>
          <p:nvPr/>
        </p:nvSpPr>
        <p:spPr>
          <a:xfrm>
            <a:off x="1415434" y="1683310"/>
            <a:ext cx="13303790" cy="4570520"/>
          </a:xfrm>
          <a:prstGeom prst="rect">
            <a:avLst/>
          </a:prstGeom>
        </p:spPr>
        <p:txBody>
          <a:bodyPr lIns="0" tIns="0" rIns="0" bIns="0" rtlCol="0" anchor="t">
            <a:spAutoFit/>
          </a:bodyPr>
          <a:lstStyle/>
          <a:p>
            <a:pPr algn="l">
              <a:lnSpc>
                <a:spcPts val="17566"/>
              </a:lnSpc>
            </a:pPr>
            <a:r>
              <a:rPr lang="en-US" sz="17566" b="1" spc="-649">
                <a:solidFill>
                  <a:srgbClr val="FFFFFF"/>
                </a:solidFill>
                <a:latin typeface="Aileron Bold"/>
                <a:ea typeface="Aileron Bold"/>
                <a:cs typeface="Aileron Bold"/>
                <a:sym typeface="Aileron Bold"/>
              </a:rPr>
              <a:t>ANY QUESTIONS?</a:t>
            </a:r>
          </a:p>
        </p:txBody>
      </p:sp>
      <p:sp>
        <p:nvSpPr>
          <p:cNvPr id="8" name="TextBox 7">
            <a:extLst>
              <a:ext uri="{FF2B5EF4-FFF2-40B4-BE49-F238E27FC236}">
                <a16:creationId xmlns:a16="http://schemas.microsoft.com/office/drawing/2014/main" id="{1F115E5E-E7B8-C7CD-F787-18849CE1C0C0}"/>
              </a:ext>
            </a:extLst>
          </p:cNvPr>
          <p:cNvSpPr txBox="1"/>
          <p:nvPr/>
        </p:nvSpPr>
        <p:spPr>
          <a:xfrm>
            <a:off x="17678400" y="9879568"/>
            <a:ext cx="9144000" cy="369332"/>
          </a:xfrm>
          <a:prstGeom prst="rect">
            <a:avLst/>
          </a:prstGeom>
          <a:noFill/>
        </p:spPr>
        <p:txBody>
          <a:bodyPr wrap="square">
            <a:spAutoFit/>
          </a:bodyPr>
          <a:lstStyle/>
          <a:p>
            <a:r>
              <a:rPr lang="en-US" dirty="0">
                <a:solidFill>
                  <a:schemeClr val="bg1">
                    <a:lumMod val="95000"/>
                  </a:schemeClr>
                </a:solidFill>
              </a:rPr>
              <a:t>11</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2492105" y="3810349"/>
            <a:ext cx="13303790" cy="2341670"/>
          </a:xfrm>
          <a:prstGeom prst="rect">
            <a:avLst/>
          </a:prstGeom>
        </p:spPr>
        <p:txBody>
          <a:bodyPr lIns="0" tIns="0" rIns="0" bIns="0" rtlCol="0" anchor="t">
            <a:spAutoFit/>
          </a:bodyPr>
          <a:lstStyle/>
          <a:p>
            <a:pPr algn="l">
              <a:lnSpc>
                <a:spcPts val="17566"/>
              </a:lnSpc>
            </a:pPr>
            <a:r>
              <a:rPr lang="en-US" sz="17566" b="1" spc="-649">
                <a:solidFill>
                  <a:srgbClr val="FFFFFF"/>
                </a:solidFill>
                <a:latin typeface="Aileron Bold"/>
                <a:ea typeface="Aileron Bold"/>
                <a:cs typeface="Aileron Bold"/>
                <a:sym typeface="Aileron Bold"/>
              </a:rPr>
              <a:t>THANK YOU</a:t>
            </a:r>
          </a:p>
        </p:txBody>
      </p:sp>
      <p:sp>
        <p:nvSpPr>
          <p:cNvPr id="8" name="TextBox 7">
            <a:extLst>
              <a:ext uri="{FF2B5EF4-FFF2-40B4-BE49-F238E27FC236}">
                <a16:creationId xmlns:a16="http://schemas.microsoft.com/office/drawing/2014/main" id="{62867A70-60EE-62CD-E6D9-64800BBEFD62}"/>
              </a:ext>
            </a:extLst>
          </p:cNvPr>
          <p:cNvSpPr txBox="1"/>
          <p:nvPr/>
        </p:nvSpPr>
        <p:spPr>
          <a:xfrm>
            <a:off x="17602200" y="9639300"/>
            <a:ext cx="9144000" cy="369332"/>
          </a:xfrm>
          <a:prstGeom prst="rect">
            <a:avLst/>
          </a:prstGeom>
          <a:noFill/>
        </p:spPr>
        <p:txBody>
          <a:bodyPr wrap="square">
            <a:spAutoFit/>
          </a:bodyPr>
          <a:lstStyle/>
          <a:p>
            <a:r>
              <a:rPr lang="en-US" dirty="0">
                <a:solidFill>
                  <a:schemeClr val="bg1">
                    <a:lumMod val="95000"/>
                  </a:schemeClr>
                </a:solidFill>
              </a:rPr>
              <a:t>12</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1343</Words>
  <Application>Microsoft Macintosh PowerPoint</Application>
  <PresentationFormat>Custom</PresentationFormat>
  <Paragraphs>117</Paragraphs>
  <Slides>12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Calibri</vt:lpstr>
      <vt:lpstr>Arial</vt:lpstr>
      <vt:lpstr>Arimo</vt:lpstr>
      <vt:lpstr>Aileron</vt:lpstr>
      <vt:lpstr>Arimo Bold</vt:lpstr>
      <vt:lpstr>-webkit-standard</vt:lpstr>
      <vt:lpstr>gg mono</vt:lpstr>
      <vt:lpstr>Aileron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MVP Demo Presentation</dc:title>
  <cp:lastModifiedBy>jgoel01@student.ubc.ca</cp:lastModifiedBy>
  <cp:revision>6</cp:revision>
  <dcterms:created xsi:type="dcterms:W3CDTF">2006-08-16T00:00:00Z</dcterms:created>
  <dcterms:modified xsi:type="dcterms:W3CDTF">2026-07-07T19:38:49Z</dcterms:modified>
  <dc:identifier>DAHOlPkm94M</dc:identifier>
</cp:coreProperties>
</file>