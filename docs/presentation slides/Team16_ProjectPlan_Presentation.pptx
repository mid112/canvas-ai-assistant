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70" r:id="rId3"/>
    <p:sldId id="257" r:id="rId4"/>
    <p:sldId id="258" r:id="rId5"/>
    <p:sldId id="259" r:id="rId6"/>
    <p:sldId id="271" r:id="rId7"/>
    <p:sldId id="260" r:id="rId8"/>
    <p:sldId id="261" r:id="rId9"/>
    <p:sldId id="262" r:id="rId10"/>
    <p:sldId id="27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700"/>
  </p:normalViewPr>
  <p:slideViewPr>
    <p:cSldViewPr snapToGrid="0" snapToObjects="1">
      <p:cViewPr varScale="1">
        <p:scale>
          <a:sx n="106" d="100"/>
          <a:sy n="106" d="100"/>
        </p:scale>
        <p:origin x="15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285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13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880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781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14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7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14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065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506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7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70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8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Team 16 </a:t>
            </a:r>
            <a:r>
              <a:rPr lang="en-US" dirty="0"/>
              <a:t>-</a:t>
            </a:r>
            <a:r>
              <a:rPr dirty="0"/>
              <a:t> Safe AI-Powered Canvas Workflow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1561790"/>
          </a:xfrm>
        </p:spPr>
        <p:txBody>
          <a:bodyPr>
            <a:normAutofit fontScale="92500" lnSpcReduction="20000"/>
          </a:bodyPr>
          <a:lstStyle/>
          <a:p>
            <a:pPr>
              <a:defRPr sz="1800"/>
            </a:pPr>
            <a:r>
              <a:rPr dirty="0"/>
              <a:t>Project Plan &amp; Requirements Presentation</a:t>
            </a:r>
          </a:p>
          <a:p>
            <a:pPr>
              <a:defRPr sz="1800"/>
            </a:pPr>
            <a:r>
              <a:rPr dirty="0"/>
              <a:t>Capstone Project </a:t>
            </a:r>
            <a:r>
              <a:rPr lang="en-US" dirty="0"/>
              <a:t>-</a:t>
            </a:r>
            <a:r>
              <a:rPr dirty="0"/>
              <a:t> AI-Assisted Canvas LMS Workflow Management</a:t>
            </a:r>
            <a:endParaRPr lang="en-US" dirty="0"/>
          </a:p>
          <a:p>
            <a:pPr>
              <a:defRPr sz="1800"/>
            </a:pPr>
            <a:r>
              <a:rPr lang="en-US" dirty="0"/>
              <a:t>Presented by team 16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D97CB-7195-12DE-E973-F8ACE23B8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THE Team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A729EC-140C-C369-6965-E0887B4070E6}"/>
              </a:ext>
            </a:extLst>
          </p:cNvPr>
          <p:cNvSpPr txBox="1"/>
          <p:nvPr/>
        </p:nvSpPr>
        <p:spPr>
          <a:xfrm>
            <a:off x="3577856" y="3465085"/>
            <a:ext cx="1988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MRIDUL NOHRIA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C660D-0DCC-3568-9AA5-5670A5E32C65}"/>
              </a:ext>
            </a:extLst>
          </p:cNvPr>
          <p:cNvSpPr txBox="1"/>
          <p:nvPr/>
        </p:nvSpPr>
        <p:spPr>
          <a:xfrm>
            <a:off x="2316927" y="5594037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JESSICA GOEL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881FF-A85C-5654-1A48-823D1889EB67}"/>
              </a:ext>
            </a:extLst>
          </p:cNvPr>
          <p:cNvSpPr txBox="1"/>
          <p:nvPr/>
        </p:nvSpPr>
        <p:spPr>
          <a:xfrm>
            <a:off x="6941283" y="3465085"/>
            <a:ext cx="1302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BAO TRAN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856A3-159E-B84B-31AC-2500ECE92591}"/>
              </a:ext>
            </a:extLst>
          </p:cNvPr>
          <p:cNvSpPr txBox="1"/>
          <p:nvPr/>
        </p:nvSpPr>
        <p:spPr>
          <a:xfrm>
            <a:off x="271175" y="3465085"/>
            <a:ext cx="2594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YERDANA MAULENBAY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AE9A39-0495-30D6-CA74-F08C312D7668}"/>
              </a:ext>
            </a:extLst>
          </p:cNvPr>
          <p:cNvSpPr txBox="1"/>
          <p:nvPr/>
        </p:nvSpPr>
        <p:spPr>
          <a:xfrm>
            <a:off x="5419689" y="5594037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0" i="0" u="none" strike="noStrike" dirty="0">
                <a:solidFill>
                  <a:srgbClr val="000000"/>
                </a:solidFill>
                <a:effectLst/>
              </a:rPr>
              <a:t>RHYTHM TRIVEDI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B22217-3CDF-5FD3-1DFD-2EA586537290}"/>
              </a:ext>
            </a:extLst>
          </p:cNvPr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F16536-4AAC-749A-8D7E-F73C2E22F4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6016" t="25244" r="-1"/>
          <a:stretch/>
        </p:blipFill>
        <p:spPr>
          <a:xfrm>
            <a:off x="5528837" y="3996099"/>
            <a:ext cx="1715037" cy="16124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C8F40B-17E5-B751-AE85-3EFF4011A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27" y="1913758"/>
            <a:ext cx="1551327" cy="15513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EBBA1B-F99A-DCC7-DA43-0800882BB6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6438" t="11681" r="-4096" b="18226"/>
          <a:stretch/>
        </p:blipFill>
        <p:spPr>
          <a:xfrm>
            <a:off x="3577856" y="1948042"/>
            <a:ext cx="1773267" cy="15710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4D34B6F-A91B-5831-1B0C-E6733FFFFC1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820" t="13045"/>
          <a:stretch/>
        </p:blipFill>
        <p:spPr>
          <a:xfrm>
            <a:off x="6771321" y="1913758"/>
            <a:ext cx="1472113" cy="15994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942E14D-E696-D573-6704-2632F7C921E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699" r="1901" b="11731"/>
          <a:stretch/>
        </p:blipFill>
        <p:spPr>
          <a:xfrm>
            <a:off x="2202717" y="3805398"/>
            <a:ext cx="1605889" cy="181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706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Project Purpose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Instructors spend excessive time navigating Canvas for repetitive workflows</a:t>
            </a:r>
          </a:p>
          <a:p>
            <a:pPr>
              <a:defRPr sz="2000"/>
            </a:pPr>
            <a:r>
              <a:rPr dirty="0"/>
              <a:t>Tasks like missing submission tracking and messaging require multiple manual steps</a:t>
            </a:r>
          </a:p>
          <a:p>
            <a:pPr>
              <a:defRPr sz="2000"/>
            </a:pPr>
            <a:r>
              <a:rPr dirty="0"/>
              <a:t>Administrative overload reduces time available for teaching and student support</a:t>
            </a:r>
          </a:p>
          <a:p>
            <a:pPr>
              <a:defRPr sz="2000"/>
            </a:pPr>
            <a:r>
              <a:rPr dirty="0"/>
              <a:t>Goal: simplify workflows using conversational AI assistance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Our Solution &amp; Unique Value Proposition (UVP)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1992234"/>
            <a:ext cx="6571343" cy="345061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4000" b="1" dirty="0">
                <a:solidFill>
                  <a:srgbClr val="000000"/>
                </a:solidFill>
              </a:rPr>
              <a:t>Conversational Workflow Assistance</a:t>
            </a:r>
          </a:p>
          <a:p>
            <a:r>
              <a:rPr lang="en-IN" sz="4000" dirty="0">
                <a:solidFill>
                  <a:srgbClr val="000000"/>
                </a:solidFill>
              </a:rPr>
              <a:t>Ask Canvas questions using natural language</a:t>
            </a:r>
          </a:p>
          <a:p>
            <a:r>
              <a:rPr lang="en-IN" sz="4000" dirty="0">
                <a:solidFill>
                  <a:srgbClr val="000000"/>
                </a:solidFill>
              </a:rPr>
              <a:t>Eliminates navigation through multiple menus</a:t>
            </a:r>
          </a:p>
          <a:p>
            <a:pPr marL="0" indent="0">
              <a:buNone/>
            </a:pPr>
            <a:r>
              <a:rPr lang="en-IN" sz="4000" b="1" dirty="0">
                <a:solidFill>
                  <a:srgbClr val="000000"/>
                </a:solidFill>
              </a:rPr>
              <a:t>Human-in-the-Loop Safety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4000" b="0" i="0" u="none" strike="noStrike" dirty="0">
                <a:solidFill>
                  <a:srgbClr val="000000"/>
                </a:solidFill>
                <a:effectLst/>
              </a:rPr>
              <a:t>AI never executes important actions automatically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4000" b="0" i="0" u="none" strike="noStrike" dirty="0">
                <a:solidFill>
                  <a:srgbClr val="000000"/>
                </a:solidFill>
                <a:effectLst/>
              </a:rPr>
              <a:t>Instructor must review every workflow</a:t>
            </a:r>
          </a:p>
          <a:p>
            <a:pPr marL="0" indent="0" algn="l">
              <a:buNone/>
            </a:pPr>
            <a:r>
              <a:rPr lang="en-IN" sz="4000" b="1" i="0" u="none" strike="noStrike" dirty="0">
                <a:solidFill>
                  <a:srgbClr val="000000"/>
                </a:solidFill>
                <a:effectLst/>
              </a:rPr>
              <a:t>Preview &amp; Dry Run Validation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4000" b="0" i="0" u="none" strike="noStrike" dirty="0">
                <a:solidFill>
                  <a:srgbClr val="000000"/>
                </a:solidFill>
                <a:effectLst/>
              </a:rPr>
              <a:t>Shows generated queries and affected users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4000" b="0" i="0" u="none" strike="noStrike" dirty="0">
                <a:solidFill>
                  <a:srgbClr val="000000"/>
                </a:solidFill>
                <a:effectLst/>
              </a:rPr>
              <a:t>Detects unsafe outputs before approval</a:t>
            </a:r>
          </a:p>
          <a:p>
            <a:pPr marL="0" indent="0">
              <a:buNone/>
            </a:pPr>
            <a:endParaRPr sz="1200" b="1" dirty="0">
              <a:solidFill>
                <a:srgbClr val="000000"/>
              </a:solidFill>
              <a:latin typeface="-webkit-standar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7EE21-0B8F-7977-3BF2-B95DF324A9E4}"/>
              </a:ext>
            </a:extLst>
          </p:cNvPr>
          <p:cNvSpPr txBox="1"/>
          <p:nvPr/>
        </p:nvSpPr>
        <p:spPr>
          <a:xfrm>
            <a:off x="4837446" y="2035352"/>
            <a:ext cx="4414838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685800"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IN" sz="1600" b="1" dirty="0">
                <a:solidFill>
                  <a:srgbClr val="000000"/>
                </a:solidFill>
              </a:rPr>
              <a:t>Privacy-Focused Local AI</a:t>
            </a:r>
          </a:p>
          <a:p>
            <a:pPr defTabSz="685800"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0000"/>
                </a:solidFill>
              </a:rPr>
              <a:t>Runs through </a:t>
            </a:r>
            <a:r>
              <a:rPr lang="en-IN" sz="1600" dirty="0" err="1">
                <a:solidFill>
                  <a:srgbClr val="000000"/>
                </a:solidFill>
              </a:rPr>
              <a:t>Ollama</a:t>
            </a:r>
            <a:r>
              <a:rPr lang="en-IN" sz="1600" dirty="0">
                <a:solidFill>
                  <a:srgbClr val="000000"/>
                </a:solidFill>
              </a:rPr>
              <a:t> on local hardware</a:t>
            </a:r>
          </a:p>
          <a:p>
            <a:pPr defTabSz="685800"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0000"/>
                </a:solidFill>
              </a:rPr>
              <a:t>Reduces reliance on external cloud providers</a:t>
            </a:r>
          </a:p>
          <a:p>
            <a:pPr marL="0" indent="0" defTabSz="685800"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IN" sz="1600" b="1" dirty="0">
                <a:solidFill>
                  <a:srgbClr val="000000"/>
                </a:solidFill>
              </a:rPr>
              <a:t>Transparent &amp; Explainable AI</a:t>
            </a:r>
          </a:p>
          <a:p>
            <a:pPr defTabSz="685800"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0000"/>
                </a:solidFill>
              </a:rPr>
              <a:t>Every workflow is logged and reviewable</a:t>
            </a:r>
          </a:p>
          <a:p>
            <a:pPr defTabSz="685800"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0000"/>
                </a:solidFill>
              </a:rPr>
              <a:t>Users can inspect how outputs were generated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User Groups &amp; Usage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Primary Users: Instructors managing large courses</a:t>
            </a:r>
          </a:p>
          <a:p>
            <a:pPr>
              <a:defRPr sz="2000"/>
            </a:pPr>
            <a:r>
              <a:t>Teaching Assistants handling grading and reminders</a:t>
            </a:r>
          </a:p>
          <a:p>
            <a:pPr>
              <a:defRPr sz="2000"/>
            </a:pPr>
            <a:r>
              <a:t>System Administrators managing deployment and security</a:t>
            </a:r>
          </a:p>
          <a:p>
            <a:pPr>
              <a:defRPr sz="2000"/>
            </a:pPr>
            <a:r>
              <a:t>Use Cases: missing submissions, assignment planning, analytics summaries, reminder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7B5B-4043-F395-80CA-26DD5001E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552" y="864912"/>
            <a:ext cx="6571343" cy="1049235"/>
          </a:xfrm>
        </p:spPr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Example Workflow: Missing Submission Analysis</a:t>
            </a:r>
            <a:endParaRPr lang="en-US" dirty="0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F403BE82-8F7F-55C4-F3EA-6405F40C0780}"/>
              </a:ext>
            </a:extLst>
          </p:cNvPr>
          <p:cNvSpPr/>
          <p:nvPr/>
        </p:nvSpPr>
        <p:spPr>
          <a:xfrm>
            <a:off x="3386889" y="2414651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F145F0-F0C5-A20A-F1EA-D83A9765E446}"/>
              </a:ext>
            </a:extLst>
          </p:cNvPr>
          <p:cNvSpPr txBox="1"/>
          <p:nvPr/>
        </p:nvSpPr>
        <p:spPr>
          <a:xfrm>
            <a:off x="2821405" y="2693555"/>
            <a:ext cx="4578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i="0" u="none" strike="noStrike" dirty="0">
                <a:solidFill>
                  <a:srgbClr val="000000"/>
                </a:solidFill>
                <a:effectLst/>
              </a:rPr>
              <a:t>AI Assistant</a:t>
            </a:r>
            <a:br>
              <a:rPr lang="en-IN" sz="1200" dirty="0"/>
            </a:br>
            <a:r>
              <a:rPr lang="en-IN" sz="1200" b="0" i="0" u="none" strike="noStrike" dirty="0">
                <a:solidFill>
                  <a:srgbClr val="000000"/>
                </a:solidFill>
                <a:effectLst/>
              </a:rPr>
              <a:t>Interprets intent</a:t>
            </a:r>
            <a:br>
              <a:rPr lang="en-IN" sz="1200" dirty="0"/>
            </a:br>
            <a:endParaRPr lang="en-US" sz="1200" dirty="0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9F98DB5A-802E-BDC8-4883-6E8EE7D5C505}"/>
              </a:ext>
            </a:extLst>
          </p:cNvPr>
          <p:cNvSpPr/>
          <p:nvPr/>
        </p:nvSpPr>
        <p:spPr>
          <a:xfrm>
            <a:off x="3435014" y="3183705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211318E6-1EC2-15DE-FAA7-AB0E1204E5FD}"/>
              </a:ext>
            </a:extLst>
          </p:cNvPr>
          <p:cNvSpPr/>
          <p:nvPr/>
        </p:nvSpPr>
        <p:spPr>
          <a:xfrm>
            <a:off x="3435014" y="3937467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3191E7-71CF-1D38-11C7-E69D9691ACD3}"/>
              </a:ext>
            </a:extLst>
          </p:cNvPr>
          <p:cNvSpPr txBox="1"/>
          <p:nvPr/>
        </p:nvSpPr>
        <p:spPr>
          <a:xfrm>
            <a:off x="2722145" y="4199975"/>
            <a:ext cx="4578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i="0" u="none" strike="noStrike" dirty="0">
                <a:solidFill>
                  <a:srgbClr val="000000"/>
                </a:solidFill>
                <a:effectLst/>
              </a:rPr>
              <a:t>Validation Layer</a:t>
            </a:r>
            <a:br>
              <a:rPr lang="en-IN" sz="1200" dirty="0"/>
            </a:br>
            <a:r>
              <a:rPr lang="en-IN" sz="1200" b="0" i="0" u="none" strike="noStrike" dirty="0">
                <a:solidFill>
                  <a:srgbClr val="000000"/>
                </a:solidFill>
                <a:effectLst/>
              </a:rPr>
              <a:t>Checks query accuracy</a:t>
            </a:r>
            <a:endParaRPr lang="en-US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AEFAEB-E845-9C11-DDAB-06C17C2CA60E}"/>
              </a:ext>
            </a:extLst>
          </p:cNvPr>
          <p:cNvSpPr txBox="1"/>
          <p:nvPr/>
        </p:nvSpPr>
        <p:spPr>
          <a:xfrm>
            <a:off x="2397292" y="1840431"/>
            <a:ext cx="4578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u="none" strike="noStrike" dirty="0">
                <a:solidFill>
                  <a:srgbClr val="000000"/>
                </a:solidFill>
                <a:effectLst/>
              </a:rPr>
              <a:t>Instructor:</a:t>
            </a:r>
            <a:br>
              <a:rPr lang="en-IN" sz="1400" dirty="0"/>
            </a:br>
            <a:r>
              <a:rPr lang="en-IN" sz="1400" b="0" i="0" u="none" strike="noStrike" dirty="0">
                <a:solidFill>
                  <a:srgbClr val="000000"/>
                </a:solidFill>
                <a:effectLst/>
              </a:rPr>
              <a:t>"Show students missing Assignment 3"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374E65-EC98-F404-4508-C7220D9E88B5}"/>
              </a:ext>
            </a:extLst>
          </p:cNvPr>
          <p:cNvSpPr txBox="1"/>
          <p:nvPr/>
        </p:nvSpPr>
        <p:spPr>
          <a:xfrm>
            <a:off x="2821405" y="3462609"/>
            <a:ext cx="4578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i="0" u="none" strike="noStrike" dirty="0">
                <a:solidFill>
                  <a:srgbClr val="000000"/>
                </a:solidFill>
                <a:effectLst/>
              </a:rPr>
              <a:t>Canvas API</a:t>
            </a:r>
            <a:br>
              <a:rPr lang="en-IN" sz="1200" dirty="0"/>
            </a:br>
            <a:r>
              <a:rPr lang="en-IN" sz="1200" b="0" i="0" u="none" strike="noStrike" dirty="0">
                <a:solidFill>
                  <a:srgbClr val="000000"/>
                </a:solidFill>
                <a:effectLst/>
              </a:rPr>
              <a:t>Retrieves submission data</a:t>
            </a:r>
            <a:endParaRPr lang="en-US" sz="1200" dirty="0"/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F9475587-6F4D-527A-4513-6D4A97514E8E}"/>
              </a:ext>
            </a:extLst>
          </p:cNvPr>
          <p:cNvSpPr/>
          <p:nvPr/>
        </p:nvSpPr>
        <p:spPr>
          <a:xfrm>
            <a:off x="3447044" y="4776406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2A158D-ACE9-A9B0-1127-36D54C64D69E}"/>
              </a:ext>
            </a:extLst>
          </p:cNvPr>
          <p:cNvSpPr txBox="1"/>
          <p:nvPr/>
        </p:nvSpPr>
        <p:spPr>
          <a:xfrm>
            <a:off x="2807615" y="5005938"/>
            <a:ext cx="4578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i="0" u="none" strike="noStrike" dirty="0">
                <a:solidFill>
                  <a:srgbClr val="000000"/>
                </a:solidFill>
                <a:effectLst/>
              </a:rPr>
              <a:t>Preview Screen</a:t>
            </a:r>
            <a:br>
              <a:rPr lang="en-IN" sz="1200" dirty="0"/>
            </a:br>
            <a:r>
              <a:rPr lang="en-IN" sz="1200" b="0" i="0" u="none" strike="noStrike" dirty="0">
                <a:solidFill>
                  <a:srgbClr val="000000"/>
                </a:solidFill>
                <a:effectLst/>
              </a:rPr>
              <a:t>Shows affected students</a:t>
            </a:r>
            <a:br>
              <a:rPr lang="en-IN" sz="1200" dirty="0"/>
            </a:br>
            <a:endParaRPr lang="en-US" sz="1200" dirty="0"/>
          </a:p>
        </p:txBody>
      </p:sp>
      <p:sp>
        <p:nvSpPr>
          <p:cNvPr id="39" name="Down Arrow 38">
            <a:extLst>
              <a:ext uri="{FF2B5EF4-FFF2-40B4-BE49-F238E27FC236}">
                <a16:creationId xmlns:a16="http://schemas.microsoft.com/office/drawing/2014/main" id="{0C797A29-977A-21FB-FB2E-84F99F43F194}"/>
              </a:ext>
            </a:extLst>
          </p:cNvPr>
          <p:cNvSpPr/>
          <p:nvPr/>
        </p:nvSpPr>
        <p:spPr>
          <a:xfrm>
            <a:off x="3453056" y="5409544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68DC03-B9FA-793A-0A39-9928F73FA6C7}"/>
              </a:ext>
            </a:extLst>
          </p:cNvPr>
          <p:cNvSpPr txBox="1"/>
          <p:nvPr/>
        </p:nvSpPr>
        <p:spPr>
          <a:xfrm>
            <a:off x="2722145" y="5639076"/>
            <a:ext cx="4578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i="0" u="none" strike="noStrike" dirty="0">
                <a:solidFill>
                  <a:srgbClr val="000000"/>
                </a:solidFill>
                <a:effectLst/>
              </a:rPr>
              <a:t>Instructor Approval</a:t>
            </a:r>
            <a:br>
              <a:rPr lang="en-IN" sz="1200" dirty="0"/>
            </a:br>
            <a:r>
              <a:rPr lang="en-IN" sz="1200" b="0" i="0" u="none" strike="noStrike" dirty="0">
                <a:solidFill>
                  <a:srgbClr val="000000"/>
                </a:solidFill>
                <a:effectLst/>
              </a:rPr>
              <a:t>Review before action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56614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Frontend: React + TypeScript + Tailwind CSS</a:t>
            </a:r>
          </a:p>
          <a:p>
            <a:pPr>
              <a:defRPr sz="2000"/>
            </a:pPr>
            <a:r>
              <a:t>Backend: FastAPI + Python + Pydantic</a:t>
            </a:r>
          </a:p>
          <a:p>
            <a:pPr>
              <a:defRPr sz="2000"/>
            </a:pPr>
            <a:r>
              <a:t>AI Layer: Ollama with Mistral/Llama/Phi models</a:t>
            </a:r>
          </a:p>
          <a:p>
            <a:pPr>
              <a:defRPr sz="2000"/>
            </a:pPr>
            <a:r>
              <a:t>Canvas Integration through REST APIs</a:t>
            </a:r>
          </a:p>
          <a:p>
            <a:pPr>
              <a:defRPr sz="2000"/>
            </a:pPr>
            <a:r>
              <a:t>Dockerized deployment with audit logging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Functional Requirements </a:t>
            </a:r>
            <a:r>
              <a:rPr lang="en-US" dirty="0"/>
              <a:t>-</a:t>
            </a:r>
            <a:r>
              <a:rPr dirty="0"/>
              <a:t> 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Secure authentication and role-based authorization</a:t>
            </a:r>
          </a:p>
          <a:p>
            <a:pPr>
              <a:defRPr sz="2000"/>
            </a:pPr>
            <a:r>
              <a:t>Canvas API integration for assignments, submissions, and analytics</a:t>
            </a:r>
          </a:p>
          <a:p>
            <a:pPr>
              <a:defRPr sz="2000"/>
            </a:pPr>
            <a:r>
              <a:t>Conversational AI interface for natural-language workflows</a:t>
            </a:r>
          </a:p>
          <a:p>
            <a:pPr>
              <a:defRPr sz="2000"/>
            </a:pPr>
            <a:r>
              <a:t>Workflow preview and dry-run validation system</a:t>
            </a:r>
          </a:p>
          <a:p>
            <a:pPr>
              <a:defRPr sz="2000"/>
            </a:pPr>
            <a:r>
              <a:t>Dashboard analytics and workflow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Functional Requirements </a:t>
            </a:r>
            <a:r>
              <a:rPr lang="en-US" dirty="0"/>
              <a:t>-</a:t>
            </a:r>
            <a:r>
              <a:rPr dirty="0"/>
              <a:t> AI &amp; Workflow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</a:rPr>
              <a:t>Authentication &amp; Authorization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</a:rPr>
              <a:t>Secure login and token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</a:rPr>
              <a:t>Role-based access control</a:t>
            </a:r>
          </a:p>
          <a:p>
            <a:pPr marL="0" indent="0" algn="l"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</a:rPr>
              <a:t>Canvas Integration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</a:rPr>
              <a:t>Retrieve courses, assignments and submissions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</a:rPr>
              <a:t>Generate structured Canvas queries</a:t>
            </a:r>
          </a:p>
          <a:p>
            <a:pPr marL="0" indent="0" algn="l"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</a:rPr>
              <a:t>Conversational AI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</a:rPr>
              <a:t>Accept natural-language requests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</a:rPr>
              <a:t>Generate structured workflow outputs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206665-8339-9E6E-0026-6BDEE3D96151}"/>
              </a:ext>
            </a:extLst>
          </p:cNvPr>
          <p:cNvSpPr txBox="1"/>
          <p:nvPr/>
        </p:nvSpPr>
        <p:spPr>
          <a:xfrm>
            <a:off x="640680" y="373441"/>
            <a:ext cx="5808245" cy="511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</a:pPr>
            <a:r>
              <a:rPr lang="en-IN" sz="2000" b="1" dirty="0">
                <a:solidFill>
                  <a:srgbClr val="000000"/>
                </a:solidFill>
              </a:rPr>
              <a:t>Preview &amp; Dry Run System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Display generated queries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Show affected users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Block unsafe actions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</a:pPr>
            <a:r>
              <a:rPr lang="en-IN" sz="2000" b="1" dirty="0">
                <a:solidFill>
                  <a:srgbClr val="000000"/>
                </a:solidFill>
              </a:rPr>
              <a:t>Messaging Assistance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Generate reminder drafts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Support reusable templates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</a:pPr>
            <a:r>
              <a:rPr lang="en-IN" sz="2000" b="1" dirty="0">
                <a:solidFill>
                  <a:srgbClr val="000000"/>
                </a:solidFill>
              </a:rPr>
              <a:t>Audit Logging &amp; Analytics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Store workflow history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Track approvals and timestamps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Display dashboard summaries</a:t>
            </a:r>
          </a:p>
        </p:txBody>
      </p:sp>
    </p:spTree>
    <p:extLst>
      <p:ext uri="{BB962C8B-B14F-4D97-AF65-F5344CB8AC3E}">
        <p14:creationId xmlns:p14="http://schemas.microsoft.com/office/powerpoint/2010/main" val="4035156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User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1400" b="1" i="0" u="none" strike="noStrike" dirty="0">
                <a:solidFill>
                  <a:srgbClr val="000000"/>
                </a:solidFill>
                <a:effectLst/>
              </a:rPr>
              <a:t>Instructor Requirements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</a:rPr>
              <a:t>View courses, assignments and submissions quickly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</a:rPr>
              <a:t>Identify missing or late work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</a:rPr>
              <a:t>Generate reminder messages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</a:rPr>
              <a:t>Review previews before approval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</a:rPr>
              <a:t>Access workflow history</a:t>
            </a:r>
          </a:p>
          <a:p>
            <a:pPr marL="0" indent="0" algn="l">
              <a:buNone/>
            </a:pPr>
            <a:r>
              <a:rPr lang="en-IN" sz="1400" b="1" i="0" u="none" strike="noStrike" dirty="0">
                <a:solidFill>
                  <a:srgbClr val="000000"/>
                </a:solidFill>
                <a:effectLst/>
              </a:rPr>
              <a:t>Teaching Assistant Requirements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</a:rPr>
              <a:t>Monitor assignment completion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</a:rPr>
              <a:t>Draft student communications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</a:rPr>
              <a:t>Review analytics summaries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3825D-0FDE-0913-0AB0-366D11FBC67A}"/>
              </a:ext>
            </a:extLst>
          </p:cNvPr>
          <p:cNvSpPr txBox="1"/>
          <p:nvPr/>
        </p:nvSpPr>
        <p:spPr>
          <a:xfrm>
            <a:off x="5829598" y="2015733"/>
            <a:ext cx="4584032" cy="148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IN" sz="1400" b="1" dirty="0">
                <a:solidFill>
                  <a:srgbClr val="000000"/>
                </a:solidFill>
              </a:rPr>
              <a:t>Administrator Requirements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000000"/>
                </a:solidFill>
              </a:rPr>
              <a:t>Manage deployment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000000"/>
                </a:solidFill>
              </a:rPr>
              <a:t>Monitor logs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000000"/>
                </a:solidFill>
              </a:rPr>
              <a:t>Maintain security and infrastructure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Technical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166" y="1902773"/>
            <a:ext cx="8470231" cy="4199725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1200" b="1" i="0" u="none" strike="noStrike" dirty="0">
                <a:solidFill>
                  <a:srgbClr val="000000"/>
                </a:solidFill>
                <a:effectLst/>
              </a:rPr>
              <a:t>Frontend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u="none" strike="noStrike" dirty="0">
                <a:solidFill>
                  <a:srgbClr val="000000"/>
                </a:solidFill>
                <a:effectLst/>
              </a:rPr>
              <a:t>React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u="none" strike="noStrike" dirty="0">
                <a:solidFill>
                  <a:srgbClr val="000000"/>
                </a:solidFill>
                <a:effectLst/>
              </a:rPr>
              <a:t>TypeScript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u="none" strike="noStrike" dirty="0">
                <a:solidFill>
                  <a:srgbClr val="000000"/>
                </a:solidFill>
                <a:effectLst/>
              </a:rPr>
              <a:t>Tailwind CSS</a:t>
            </a:r>
          </a:p>
          <a:p>
            <a:pPr marL="0" indent="0" algn="l">
              <a:buNone/>
            </a:pPr>
            <a:r>
              <a:rPr lang="en-IN" sz="1200" b="1" i="0" u="none" strike="noStrike" dirty="0">
                <a:solidFill>
                  <a:srgbClr val="000000"/>
                </a:solidFill>
                <a:effectLst/>
              </a:rPr>
              <a:t>Backend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u="none" strike="noStrike" dirty="0" err="1">
                <a:solidFill>
                  <a:srgbClr val="000000"/>
                </a:solidFill>
                <a:effectLst/>
              </a:rPr>
              <a:t>FastAPI</a:t>
            </a:r>
            <a:endParaRPr lang="en-IN" sz="12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u="none" strike="noStrike" dirty="0">
                <a:solidFill>
                  <a:srgbClr val="000000"/>
                </a:solidFill>
                <a:effectLst/>
              </a:rPr>
              <a:t>Python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u="none" strike="noStrike" dirty="0" err="1">
                <a:solidFill>
                  <a:srgbClr val="000000"/>
                </a:solidFill>
                <a:effectLst/>
              </a:rPr>
              <a:t>Pydantic</a:t>
            </a:r>
            <a:endParaRPr lang="en-IN" sz="12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IN" sz="1200" b="1" i="0" u="none" strike="noStrike" dirty="0">
                <a:solidFill>
                  <a:srgbClr val="000000"/>
                </a:solidFill>
                <a:effectLst/>
              </a:rPr>
              <a:t>AI Layer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u="none" strike="noStrike" dirty="0" err="1">
                <a:solidFill>
                  <a:srgbClr val="000000"/>
                </a:solidFill>
                <a:effectLst/>
              </a:rPr>
              <a:t>Ollama</a:t>
            </a:r>
            <a:endParaRPr lang="en-IN" sz="12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u="none" strike="noStrike" dirty="0">
                <a:solidFill>
                  <a:srgbClr val="000000"/>
                </a:solidFill>
                <a:effectLst/>
              </a:rPr>
              <a:t>Mistral / Llama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0" i="0" u="none" strike="noStrike" dirty="0" err="1">
                <a:solidFill>
                  <a:srgbClr val="000000"/>
                </a:solidFill>
                <a:effectLst/>
              </a:rPr>
              <a:t>Dockerized</a:t>
            </a:r>
            <a:r>
              <a:rPr lang="en-IN" sz="1200" b="0" i="0" u="none" strike="noStrike" dirty="0">
                <a:solidFill>
                  <a:srgbClr val="000000"/>
                </a:solidFill>
                <a:effectLst/>
              </a:rPr>
              <a:t> MCP Server</a:t>
            </a:r>
          </a:p>
          <a:p>
            <a:pPr marL="0" indent="0" algn="l">
              <a:buNone/>
            </a:pPr>
            <a:endParaRPr lang="en-IN" sz="12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47A38-E84F-AE9B-D686-39B1FC3B6099}"/>
              </a:ext>
            </a:extLst>
          </p:cNvPr>
          <p:cNvSpPr txBox="1"/>
          <p:nvPr/>
        </p:nvSpPr>
        <p:spPr>
          <a:xfrm>
            <a:off x="5554376" y="1960705"/>
            <a:ext cx="4584032" cy="274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IN" sz="1200" b="1" dirty="0">
                <a:solidFill>
                  <a:srgbClr val="000000"/>
                </a:solidFill>
              </a:rPr>
              <a:t>Security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0000"/>
                </a:solidFill>
              </a:rPr>
              <a:t>JWT Authentication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200" dirty="0" err="1">
                <a:solidFill>
                  <a:srgbClr val="000000"/>
                </a:solidFill>
              </a:rPr>
              <a:t>bcrypt</a:t>
            </a:r>
            <a:r>
              <a:rPr lang="en-IN" sz="1200" dirty="0">
                <a:solidFill>
                  <a:srgbClr val="000000"/>
                </a:solidFill>
              </a:rPr>
              <a:t> Password Hashing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0000"/>
                </a:solidFill>
              </a:rPr>
              <a:t>HTTPS/TLS Encryption</a:t>
            </a:r>
          </a:p>
          <a:p>
            <a:pPr marL="0" indent="0"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IN" sz="1200" b="1" dirty="0" err="1">
                <a:solidFill>
                  <a:srgbClr val="000000"/>
                </a:solidFill>
              </a:rPr>
              <a:t>Perforance</a:t>
            </a:r>
            <a:r>
              <a:rPr lang="en-IN" sz="1200" b="1" dirty="0">
                <a:solidFill>
                  <a:srgbClr val="000000"/>
                </a:solidFill>
              </a:rPr>
              <a:t> Goals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0000"/>
                </a:solidFill>
              </a:rPr>
              <a:t>Dashboard load &lt; 2 seconds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0000"/>
                </a:solidFill>
              </a:rPr>
              <a:t>API response &lt; 3 seconds</a:t>
            </a:r>
          </a:p>
          <a:p>
            <a:pPr defTabSz="6858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0000"/>
                </a:solidFill>
              </a:rPr>
              <a:t>Query preview &lt; 5 seconds</a:t>
            </a:r>
            <a:endParaRPr lang="en-US" sz="1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MVP Scope &amp; Project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 Scope: AI workflow planning, previews, analytics, audit logging</a:t>
            </a:r>
          </a:p>
          <a:p>
            <a:pPr>
              <a:defRPr sz="2000"/>
            </a:pPr>
            <a:r>
              <a:t>Out of Scope: autonomous grade changes and AI grading</a:t>
            </a:r>
          </a:p>
          <a:p>
            <a:pPr>
              <a:defRPr sz="2000"/>
            </a:pPr>
            <a:r>
              <a:t>Focus on explainability, privacy, and instructor oversight</a:t>
            </a:r>
          </a:p>
          <a:p>
            <a:pPr>
              <a:defRPr sz="2000"/>
            </a:pPr>
            <a:r>
              <a:t>MVP prioritizes safe decision-support rather than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Success Criteria &amp; Measurable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D24BC41-DFA5-1B0A-58DE-4B04304573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6156261"/>
              </p:ext>
            </p:extLst>
          </p:nvPr>
        </p:nvGraphicFramePr>
        <p:xfrm>
          <a:off x="770021" y="2502568"/>
          <a:ext cx="7868654" cy="2875548"/>
        </p:xfrm>
        <a:graphic>
          <a:graphicData uri="http://schemas.openxmlformats.org/drawingml/2006/table">
            <a:tbl>
              <a:tblPr/>
              <a:tblGrid>
                <a:gridCol w="3934327">
                  <a:extLst>
                    <a:ext uri="{9D8B030D-6E8A-4147-A177-3AD203B41FA5}">
                      <a16:colId xmlns:a16="http://schemas.microsoft.com/office/drawing/2014/main" val="2233786416"/>
                    </a:ext>
                  </a:extLst>
                </a:gridCol>
                <a:gridCol w="3934327">
                  <a:extLst>
                    <a:ext uri="{9D8B030D-6E8A-4147-A177-3AD203B41FA5}">
                      <a16:colId xmlns:a16="http://schemas.microsoft.com/office/drawing/2014/main" val="2701634469"/>
                    </a:ext>
                  </a:extLst>
                </a:gridCol>
              </a:tblGrid>
              <a:tr h="479258">
                <a:tc>
                  <a:txBody>
                    <a:bodyPr/>
                    <a:lstStyle/>
                    <a:p>
                      <a:r>
                        <a:rPr lang="en-IN" dirty="0"/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Measurement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081536"/>
                  </a:ext>
                </a:extLst>
              </a:tr>
              <a:tr h="479258">
                <a:tc>
                  <a:txBody>
                    <a:bodyPr/>
                    <a:lstStyle/>
                    <a:p>
                      <a:r>
                        <a:rPr lang="en-IN"/>
                        <a:t>Intent 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≥90% successful request understanding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093370"/>
                  </a:ext>
                </a:extLst>
              </a:tr>
              <a:tr h="479258">
                <a:tc>
                  <a:txBody>
                    <a:bodyPr/>
                    <a:lstStyle/>
                    <a:p>
                      <a:r>
                        <a:rPr lang="en-IN" dirty="0"/>
                        <a:t>Workflow safety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100% actions require 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5410435"/>
                  </a:ext>
                </a:extLst>
              </a:tr>
              <a:tr h="479258">
                <a:tc>
                  <a:txBody>
                    <a:bodyPr/>
                    <a:lstStyle/>
                    <a:p>
                      <a:r>
                        <a:rPr lang="en-IN" dirty="0"/>
                        <a:t>Efficiency improvement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≥40% faster than manual Canvas navigation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497238"/>
                  </a:ext>
                </a:extLst>
              </a:tr>
              <a:tr h="479258">
                <a:tc>
                  <a:txBody>
                    <a:bodyPr/>
                    <a:lstStyle/>
                    <a:p>
                      <a:r>
                        <a:rPr lang="en-IN"/>
                        <a:t>Local AI deployment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Runs successfully on all team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056017"/>
                  </a:ext>
                </a:extLst>
              </a:tr>
              <a:tr h="479258">
                <a:tc>
                  <a:txBody>
                    <a:bodyPr/>
                    <a:lstStyle/>
                    <a:p>
                      <a:r>
                        <a:rPr lang="en-IN"/>
                        <a:t>Usability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≥85% positive peer feedback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7047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Risks, Challenges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LLM hallucinations mitigated using validation and previews</a:t>
            </a:r>
          </a:p>
          <a:p>
            <a:pPr>
              <a:defRPr sz="2000"/>
            </a:pPr>
            <a:r>
              <a:t>Canvas API limitations handled through early integration testing</a:t>
            </a:r>
          </a:p>
          <a:p>
            <a:pPr>
              <a:defRPr sz="2000"/>
            </a:pPr>
            <a:r>
              <a:t>Scope creep controlled using strict MVP boundaries</a:t>
            </a:r>
          </a:p>
          <a:p>
            <a:pPr>
              <a:defRPr sz="2000"/>
            </a:pPr>
            <a:r>
              <a:t>Frontend/backend integration coordinated with milestone testing</a:t>
            </a:r>
          </a:p>
          <a:p>
            <a:pPr>
              <a:defRPr sz="2000"/>
            </a:pPr>
            <a:r>
              <a:t>Dockerized environments improve deployment consistency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Project Timeline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June: Architecture, authentication, dashboard prototype</a:t>
            </a:r>
          </a:p>
          <a:p>
            <a:pPr>
              <a:defRPr sz="2000"/>
            </a:pPr>
            <a:r>
              <a:t>July: MVP features, integration, peer testing</a:t>
            </a:r>
          </a:p>
          <a:p>
            <a:pPr>
              <a:defRPr sz="2000"/>
            </a:pPr>
            <a:r>
              <a:t>August: Full system testing and final presentation</a:t>
            </a:r>
          </a:p>
          <a:p>
            <a:pPr>
              <a:defRPr sz="2000"/>
            </a:pPr>
            <a:r>
              <a:t>Agile milestone tracking with GitHub Kanban 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AI-assisted educational workflow management with safety-first design</a:t>
            </a:r>
          </a:p>
          <a:p>
            <a:pPr>
              <a:defRPr sz="2000"/>
            </a:pPr>
            <a:r>
              <a:t>Combines conversational AI, secure APIs, and local LLM deployment</a:t>
            </a:r>
          </a:p>
          <a:p>
            <a:pPr>
              <a:defRPr sz="2000"/>
            </a:pPr>
            <a:r>
              <a:t>Prioritizes transparency, privacy, accessibility, and explainability</a:t>
            </a:r>
          </a:p>
          <a:p>
            <a:pPr>
              <a:defRPr sz="2000"/>
            </a:pPr>
            <a:r>
              <a:t>Designed to modernize instructor workflows without replacing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{8A10EB92-C767-CC43-9DA0-12F1E8479B88}tf10001119_mac</Template>
  <TotalTime>798</TotalTime>
  <Words>699</Words>
  <Application>Microsoft Macintosh PowerPoint</Application>
  <PresentationFormat>On-screen Show (4:3)</PresentationFormat>
  <Paragraphs>146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-webkit-standard</vt:lpstr>
      <vt:lpstr>Arial</vt:lpstr>
      <vt:lpstr>Gill Sans MT</vt:lpstr>
      <vt:lpstr>Gallery</vt:lpstr>
      <vt:lpstr>Team 16 - Safe AI-Powered Canvas Workflow Assistant</vt:lpstr>
      <vt:lpstr>MEET THE Team</vt:lpstr>
      <vt:lpstr>Project Purpose &amp; Problem Statement</vt:lpstr>
      <vt:lpstr>Our Solution &amp; Unique Value Proposition (UVP)</vt:lpstr>
      <vt:lpstr>User Groups &amp; Usage Scenarios</vt:lpstr>
      <vt:lpstr>Example Workflow: Missing Submission Analysis</vt:lpstr>
      <vt:lpstr>System Architecture</vt:lpstr>
      <vt:lpstr>Functional Requirements - Core Features</vt:lpstr>
      <vt:lpstr>Functional Requirements - AI &amp; Workflow Support</vt:lpstr>
      <vt:lpstr>PowerPoint Presentation</vt:lpstr>
      <vt:lpstr>User Requirements</vt:lpstr>
      <vt:lpstr>Technical Requirements</vt:lpstr>
      <vt:lpstr>MVP Scope &amp; Project Boundaries</vt:lpstr>
      <vt:lpstr>Success Criteria &amp; Measurable Objectives</vt:lpstr>
      <vt:lpstr>Risks, Challenges &amp; Mitigation</vt:lpstr>
      <vt:lpstr>Project Timeline &amp; Milestones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16 - Safe AI-Powered Canvas Workflow Assistant</dc:title>
  <dc:subject/>
  <dc:creator/>
  <cp:keywords/>
  <dc:description>generated using python-pptx</dc:description>
  <cp:lastModifiedBy>jgoel01@student.ubc.ca</cp:lastModifiedBy>
  <cp:revision>6</cp:revision>
  <dcterms:created xsi:type="dcterms:W3CDTF">2013-01-27T09:14:16Z</dcterms:created>
  <dcterms:modified xsi:type="dcterms:W3CDTF">2026-05-29T01:00:22Z</dcterms:modified>
  <cp:category/>
</cp:coreProperties>
</file>